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project implements a behavioral anomaly detection pipeline targeting credential compromise — specifically MITRE ATT&amp;CK T1078, Valid Accounts. It is unsupervised — no labeled attack data required. I built this to demonstrate applied ML thinking in the identity security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T1078 is one of the most frequently observed techniques across real-world breaches. It succeeds in 98% of tested environments per Picus Blue Report 2025. The reason: if you trust network location, a valid credential from an attacker looks identical to a valid credential from the real user. You need behavioral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of Isolation Forest: you don't need to know what attacks look like. You need to know what normal looks like — and normal is easy to learn because it's the majority. Anomalies isolate themselves because they're few and different. This is why it works without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velocity feature is the key engineering decision. Impossible travel — someone logging in from New York then Beijing 10 minutes later — shows up as 40,000+ km/h. I derived this from the raw lat/lon and timestamp data using the Haversine formula, which I imported from the data generation module rather than duplicating it. That's the DRY principle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distribution separation is the visual proof the model learned something real. If these distributions overlapped completely, the model would be guessing. The clear left-shift of the anomaly distribution confirms the feature engineering captured meaningful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cluster at velocity near zero is the most important part of this chart. Those are the behavioral anomalies — typing speed, click-through, session timing. The attacker is logging in from the right city, at the right time — but their behavior is wrong. A production ZTNA system that only checked location would miss these. Multi-signal detection catches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 recall means we catch 92 out of every 100 real attacks with no labeled training data. The 6 misses are behavioral anomalies where the signal was subtle — typing speed or CTR only slightly outside normal range. A production system would tune contamination per user rather than using a population-level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section is intentional and important. Knowing what your model doesn't do is as valuable as knowing what it does. A production deployment would address all five of these — but this proof-of-concept demonstrates the core detection logic and the viability of the unsupervised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ties the technical work back to the role. The HCL pipeline story is real — I built that. This project is the next step: taking that experience and building a fully instrumented, evaluated ML pipeline around the same detection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headline number is 92% recall with no labeled attack data. The model learns what normal looks like and flags everything that isn't. That's the unsupervised advantage — you don't need to have seen the attack before to detect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E3A5F"/>
          </a:solidFill>
          <a:ln w="12700">
            <a:solidFill>
              <a:srgbClr val="1E3A5F"/>
            </a:solidFill>
            <a:prstDash val="solid"/>
          </a:ln>
        </p:spPr>
      </p:sp>
      <p:sp>
        <p:nvSpPr>
          <p:cNvPr id="3" name="Text 1"/>
          <p:cNvSpPr/>
          <p:nvPr/>
        </p:nvSpPr>
        <p:spPr>
          <a:xfrm>
            <a:off x="457200" y="548640"/>
            <a:ext cx="8229600" cy="100584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Behavioral Anomaly Detection</a:t>
            </a:r>
            <a:endParaRPr lang="en-US" sz="4000" dirty="0"/>
          </a:p>
        </p:txBody>
      </p:sp>
      <p:sp>
        <p:nvSpPr>
          <p:cNvPr id="4" name="Text 2"/>
          <p:cNvSpPr/>
          <p:nvPr/>
        </p:nvSpPr>
        <p:spPr>
          <a:xfrm>
            <a:off x="457200" y="1463040"/>
            <a:ext cx="8229600" cy="731520"/>
          </a:xfrm>
          <a:prstGeom prst="rect">
            <a:avLst/>
          </a:prstGeom>
          <a:noFill/>
          <a:ln/>
        </p:spPr>
        <p:txBody>
          <a:bodyPr wrap="square" rtlCol="0" anchor="ctr"/>
          <a:lstStyle/>
          <a:p>
            <a:pPr algn="ctr" indent="0" marL="0">
              <a:buNone/>
            </a:pPr>
            <a:r>
              <a:rPr lang="en-US" sz="3000" dirty="0">
                <a:solidFill>
                  <a:srgbClr val="CADCFC"/>
                </a:solidFill>
                <a:latin typeface="Cambria" pitchFamily="34" charset="0"/>
                <a:ea typeface="Cambria" pitchFamily="34" charset="-122"/>
                <a:cs typeface="Cambria" pitchFamily="34" charset="-120"/>
              </a:rPr>
              <a:t>for Identity Threat Detection</a:t>
            </a:r>
            <a:endParaRPr lang="en-US" sz="3000" dirty="0"/>
          </a:p>
        </p:txBody>
      </p:sp>
      <p:sp>
        <p:nvSpPr>
          <p:cNvPr id="5" name="Text 3"/>
          <p:cNvSpPr/>
          <p:nvPr/>
        </p:nvSpPr>
        <p:spPr>
          <a:xfrm>
            <a:off x="457200" y="2286000"/>
            <a:ext cx="8229600" cy="548640"/>
          </a:xfrm>
          <a:prstGeom prst="rect">
            <a:avLst/>
          </a:prstGeom>
          <a:noFill/>
          <a:ln/>
        </p:spPr>
        <p:txBody>
          <a:bodyPr wrap="square" rtlCol="0" anchor="ctr"/>
          <a:lstStyle/>
          <a:p>
            <a:pPr algn="ctr" indent="0" marL="0">
              <a:buNone/>
            </a:pPr>
            <a:r>
              <a:rPr lang="en-US" sz="1600" i="1" dirty="0">
                <a:solidFill>
                  <a:srgbClr val="94A3B8"/>
                </a:solidFill>
                <a:latin typeface="Arial" pitchFamily="34" charset="0"/>
                <a:ea typeface="Arial" pitchFamily="34" charset="-122"/>
                <a:cs typeface="Arial" pitchFamily="34" charset="-120"/>
              </a:rPr>
              <a:t>An Unsupervised Machine Learning Approach to MITRE ATT&amp;CK T1078</a:t>
            </a:r>
            <a:endParaRPr lang="en-US" sz="1600" dirty="0"/>
          </a:p>
        </p:txBody>
      </p:sp>
      <p:sp>
        <p:nvSpPr>
          <p:cNvPr id="6" name="Text 4"/>
          <p:cNvSpPr/>
          <p:nvPr/>
        </p:nvSpPr>
        <p:spPr>
          <a:xfrm>
            <a:off x="457200" y="3566160"/>
            <a:ext cx="8229600" cy="1280160"/>
          </a:xfrm>
          <a:prstGeom prst="rect">
            <a:avLst/>
          </a:prstGeom>
          <a:noFill/>
          <a:ln/>
        </p:spPr>
        <p:txBody>
          <a:bodyPr wrap="square" rtlCol="0" anchor="ctr"/>
          <a:lstStyle/>
          <a:p>
            <a:pPr algn="ctr" indent="0" marL="0">
              <a:buNone/>
            </a:pPr>
            <a:r>
              <a:rPr lang="en-US" sz="1400" b="1" dirty="0">
                <a:solidFill>
                  <a:srgbClr val="CADCFC"/>
                </a:solidFill>
                <a:latin typeface="Arial" pitchFamily="34" charset="0"/>
                <a:ea typeface="Arial" pitchFamily="34" charset="-122"/>
                <a:cs typeface="Arial" pitchFamily="34" charset="-120"/>
              </a:rPr>
              <a:t>Benjamin Brady</a:t>
            </a:r>
            <a:endParaRPr lang="en-US" sz="1400" dirty="0"/>
          </a:p>
          <a:p>
            <a:pPr algn="ctr" indent="0" marL="0">
              <a:buNone/>
            </a:pPr>
            <a:r>
              <a:rPr lang="en-US" sz="1400" dirty="0">
                <a:solidFill>
                  <a:srgbClr val="CADCFC"/>
                </a:solidFill>
                <a:latin typeface="Arial" pitchFamily="34" charset="0"/>
                <a:ea typeface="Arial" pitchFamily="34" charset="-122"/>
                <a:cs typeface="Arial" pitchFamily="34" charset="-120"/>
              </a:rPr>
              <a:t>June 2026</a:t>
            </a:r>
            <a:endParaRPr lang="en-US" sz="1400" dirty="0"/>
          </a:p>
          <a:p>
            <a:pPr algn="ctr" indent="0" marL="0">
              <a:buNone/>
            </a:pPr>
            <a:r>
              <a:rPr lang="en-US" sz="1400" i="1" dirty="0">
                <a:solidFill>
                  <a:srgbClr val="CADCFC"/>
                </a:solidFill>
                <a:latin typeface="Arial" pitchFamily="34" charset="0"/>
                <a:ea typeface="Arial" pitchFamily="34" charset="-122"/>
                <a:cs typeface="Arial" pitchFamily="34" charset="-120"/>
              </a:rPr>
              <a:t>Python · scikit-learn · pandas · Isolation Forest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82880"/>
            <a:ext cx="8412480" cy="73152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The Problem: Credential Compromise is Invisible to Perimeter Defenses</a:t>
            </a:r>
            <a:endParaRPr lang="en-US" sz="2400" dirty="0"/>
          </a:p>
        </p:txBody>
      </p:sp>
      <p:sp>
        <p:nvSpPr>
          <p:cNvPr id="3" name="Shape 1"/>
          <p:cNvSpPr/>
          <p:nvPr/>
        </p:nvSpPr>
        <p:spPr>
          <a:xfrm>
            <a:off x="274320" y="1051560"/>
            <a:ext cx="2834640" cy="3474720"/>
          </a:xfrm>
          <a:prstGeom prst="roundRect">
            <a:avLst>
              <a:gd name="adj" fmla="val 3871"/>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4" name="Text 2"/>
          <p:cNvSpPr/>
          <p:nvPr/>
        </p:nvSpPr>
        <p:spPr>
          <a:xfrm>
            <a:off x="411480" y="1188720"/>
            <a:ext cx="2560320" cy="50292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MITRE ATT&amp;CK T1078</a:t>
            </a:r>
            <a:endParaRPr lang="en-US" sz="1300" dirty="0"/>
          </a:p>
        </p:txBody>
      </p:sp>
      <p:sp>
        <p:nvSpPr>
          <p:cNvPr id="5" name="Text 3"/>
          <p:cNvSpPr/>
          <p:nvPr/>
        </p:nvSpPr>
        <p:spPr>
          <a:xfrm>
            <a:off x="411480" y="1737360"/>
            <a:ext cx="2560320" cy="265176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Valid Accounts — adversaries use legitimate stolen credentials to authenticate as authorized users. Traditional controls see a valid login.</a:t>
            </a:r>
            <a:endParaRPr lang="en-US" sz="1200" dirty="0"/>
          </a:p>
        </p:txBody>
      </p:sp>
      <p:sp>
        <p:nvSpPr>
          <p:cNvPr id="6" name="Shape 4"/>
          <p:cNvSpPr/>
          <p:nvPr/>
        </p:nvSpPr>
        <p:spPr>
          <a:xfrm>
            <a:off x="3246120" y="1051560"/>
            <a:ext cx="2834640" cy="3474720"/>
          </a:xfrm>
          <a:prstGeom prst="roundRect">
            <a:avLst>
              <a:gd name="adj" fmla="val 3871"/>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3383280" y="1188720"/>
            <a:ext cx="2560320" cy="50292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Zero Trust Gap</a:t>
            </a:r>
            <a:endParaRPr lang="en-US" sz="1300" dirty="0"/>
          </a:p>
        </p:txBody>
      </p:sp>
      <p:sp>
        <p:nvSpPr>
          <p:cNvPr id="8" name="Text 6"/>
          <p:cNvSpPr/>
          <p:nvPr/>
        </p:nvSpPr>
        <p:spPr>
          <a:xfrm>
            <a:off x="3383280" y="1737360"/>
            <a:ext cx="2560320" cy="265176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Perimeter-based models trust anything inside the network. A compromised VPN credential = full internal access under legacy architecture.</a:t>
            </a:r>
            <a:endParaRPr lang="en-US" sz="1200" dirty="0"/>
          </a:p>
        </p:txBody>
      </p:sp>
      <p:sp>
        <p:nvSpPr>
          <p:cNvPr id="9" name="Shape 7"/>
          <p:cNvSpPr/>
          <p:nvPr/>
        </p:nvSpPr>
        <p:spPr>
          <a:xfrm>
            <a:off x="6217920" y="1051560"/>
            <a:ext cx="2834640" cy="3474720"/>
          </a:xfrm>
          <a:prstGeom prst="roundRect">
            <a:avLst>
              <a:gd name="adj" fmla="val 3871"/>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6355080" y="1188720"/>
            <a:ext cx="2560320" cy="50292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The Detection Problem</a:t>
            </a:r>
            <a:endParaRPr lang="en-US" sz="1300" dirty="0"/>
          </a:p>
        </p:txBody>
      </p:sp>
      <p:sp>
        <p:nvSpPr>
          <p:cNvPr id="11" name="Text 9"/>
          <p:cNvSpPr/>
          <p:nvPr/>
        </p:nvSpPr>
        <p:spPr>
          <a:xfrm>
            <a:off x="6355080" y="1737360"/>
            <a:ext cx="2560320" cy="265176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You cannot label every attack variant in advance. You need to model what 'normal' looks like — and flag everything that deviates.</a:t>
            </a:r>
            <a:endParaRPr lang="en-US" sz="1200" dirty="0"/>
          </a:p>
        </p:txBody>
      </p:sp>
      <p:sp>
        <p:nvSpPr>
          <p:cNvPr id="12" name="Text 10"/>
          <p:cNvSpPr/>
          <p:nvPr/>
        </p:nvSpPr>
        <p:spPr>
          <a:xfrm>
            <a:off x="365760" y="4846320"/>
            <a:ext cx="8229600" cy="182880"/>
          </a:xfrm>
          <a:prstGeom prst="rect">
            <a:avLst/>
          </a:prstGeom>
          <a:noFill/>
          <a:ln/>
        </p:spPr>
        <p:txBody>
          <a:bodyPr wrap="square" rtlCol="0" anchor="ctr"/>
          <a:lstStyle/>
          <a:p>
            <a:pPr indent="0" marL="0">
              <a:buNone/>
            </a:pPr>
            <a:r>
              <a:rPr lang="en-US" sz="900" i="1" dirty="0">
                <a:solidFill>
                  <a:srgbClr val="94A3B8"/>
                </a:solidFill>
                <a:latin typeface="Arial" pitchFamily="34" charset="0"/>
                <a:ea typeface="Arial" pitchFamily="34" charset="-122"/>
                <a:cs typeface="Arial" pitchFamily="34" charset="-120"/>
              </a:rPr>
              <a:t>Source: MITRE ATT&amp;CK T1078 | NIST SP 800-207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Approach: Model Normal, Flag Deviations</a:t>
            </a:r>
            <a:endParaRPr lang="en-US" sz="2600" dirty="0"/>
          </a:p>
        </p:txBody>
      </p:sp>
      <p:sp>
        <p:nvSpPr>
          <p:cNvPr id="3" name="Text 1"/>
          <p:cNvSpPr/>
          <p:nvPr/>
        </p:nvSpPr>
        <p:spPr>
          <a:xfrm>
            <a:off x="365760" y="777240"/>
            <a:ext cx="8229600" cy="365760"/>
          </a:xfrm>
          <a:prstGeom prst="rect">
            <a:avLst/>
          </a:prstGeom>
          <a:noFill/>
          <a:ln/>
        </p:spPr>
        <p:txBody>
          <a:bodyPr wrap="square" rtlCol="0" anchor="ctr"/>
          <a:lstStyle/>
          <a:p>
            <a:pPr indent="0" marL="0">
              <a:buNone/>
            </a:pPr>
            <a:r>
              <a:rPr lang="en-US" sz="1500" i="1" dirty="0">
                <a:solidFill>
                  <a:srgbClr val="CADCFC"/>
                </a:solidFill>
                <a:latin typeface="Arial" pitchFamily="34" charset="0"/>
                <a:ea typeface="Arial" pitchFamily="34" charset="-122"/>
                <a:cs typeface="Arial" pitchFamily="34" charset="-120"/>
              </a:rPr>
              <a:t>Isolation Forest — Liu, Ting &amp; Zhou (IEEE 2008)</a:t>
            </a:r>
            <a:endParaRPr lang="en-US" sz="1500" dirty="0"/>
          </a:p>
        </p:txBody>
      </p:sp>
      <p:sp>
        <p:nvSpPr>
          <p:cNvPr id="4" name="Shape 2"/>
          <p:cNvSpPr/>
          <p:nvPr/>
        </p:nvSpPr>
        <p:spPr>
          <a:xfrm>
            <a:off x="274320" y="1280160"/>
            <a:ext cx="4160520" cy="1463040"/>
          </a:xfrm>
          <a:prstGeom prst="roundRect">
            <a:avLst>
              <a:gd name="adj" fmla="val 6250"/>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365760" y="1371600"/>
            <a:ext cx="365760" cy="365760"/>
          </a:xfrm>
          <a:prstGeom prst="rect">
            <a:avLst/>
          </a:prstGeom>
          <a:noFill/>
          <a:ln/>
        </p:spPr>
        <p:txBody>
          <a:bodyPr wrap="square" rtlCol="0" anchor="ctr"/>
          <a:lstStyle/>
          <a:p>
            <a:pPr indent="0" marL="0">
              <a:buNone/>
            </a:pPr>
            <a:r>
              <a:rPr lang="en-US" sz="1800" b="1" dirty="0">
                <a:solidFill>
                  <a:srgbClr val="3B82F6"/>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777240" y="1371600"/>
            <a:ext cx="3566160" cy="36576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Random Partitioning</a:t>
            </a:r>
            <a:endParaRPr lang="en-US" sz="1300" dirty="0"/>
          </a:p>
        </p:txBody>
      </p:sp>
      <p:sp>
        <p:nvSpPr>
          <p:cNvPr id="7" name="Text 5"/>
          <p:cNvSpPr/>
          <p:nvPr/>
        </p:nvSpPr>
        <p:spPr>
          <a:xfrm>
            <a:off x="365760" y="1783080"/>
            <a:ext cx="3931920" cy="86868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Build an ensemble of 100 random decision trees. At each node, randomly select a feature and a split value.</a:t>
            </a:r>
            <a:endParaRPr lang="en-US" sz="1100" dirty="0"/>
          </a:p>
        </p:txBody>
      </p:sp>
      <p:sp>
        <p:nvSpPr>
          <p:cNvPr id="8" name="Shape 6"/>
          <p:cNvSpPr/>
          <p:nvPr/>
        </p:nvSpPr>
        <p:spPr>
          <a:xfrm>
            <a:off x="4709160" y="1280160"/>
            <a:ext cx="4160520" cy="1463040"/>
          </a:xfrm>
          <a:prstGeom prst="roundRect">
            <a:avLst>
              <a:gd name="adj" fmla="val 6250"/>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4800600" y="1371600"/>
            <a:ext cx="365760" cy="365760"/>
          </a:xfrm>
          <a:prstGeom prst="rect">
            <a:avLst/>
          </a:prstGeom>
          <a:noFill/>
          <a:ln/>
        </p:spPr>
        <p:txBody>
          <a:bodyPr wrap="square" rtlCol="0" anchor="ctr"/>
          <a:lstStyle/>
          <a:p>
            <a:pPr indent="0" marL="0">
              <a:buNone/>
            </a:pPr>
            <a:r>
              <a:rPr lang="en-US" sz="1800" b="1" dirty="0">
                <a:solidFill>
                  <a:srgbClr val="3B82F6"/>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5212080" y="1371600"/>
            <a:ext cx="3566160" cy="36576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Isolation Principle</a:t>
            </a:r>
            <a:endParaRPr lang="en-US" sz="1300" dirty="0"/>
          </a:p>
        </p:txBody>
      </p:sp>
      <p:sp>
        <p:nvSpPr>
          <p:cNvPr id="11" name="Text 9"/>
          <p:cNvSpPr/>
          <p:nvPr/>
        </p:nvSpPr>
        <p:spPr>
          <a:xfrm>
            <a:off x="4800600" y="1783080"/>
            <a:ext cx="3931920" cy="86868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Anomalies sit in sparse feature space regions. Fewer random splits are needed to isolate them from the rest of the data.</a:t>
            </a:r>
            <a:endParaRPr lang="en-US" sz="1100" dirty="0"/>
          </a:p>
        </p:txBody>
      </p:sp>
      <p:sp>
        <p:nvSpPr>
          <p:cNvPr id="12" name="Shape 10"/>
          <p:cNvSpPr/>
          <p:nvPr/>
        </p:nvSpPr>
        <p:spPr>
          <a:xfrm>
            <a:off x="274320" y="2926080"/>
            <a:ext cx="4160520" cy="1463040"/>
          </a:xfrm>
          <a:prstGeom prst="roundRect">
            <a:avLst>
              <a:gd name="adj" fmla="val 6250"/>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365760" y="3017520"/>
            <a:ext cx="365760" cy="365760"/>
          </a:xfrm>
          <a:prstGeom prst="rect">
            <a:avLst/>
          </a:prstGeom>
          <a:noFill/>
          <a:ln/>
        </p:spPr>
        <p:txBody>
          <a:bodyPr wrap="square" rtlCol="0" anchor="ctr"/>
          <a:lstStyle/>
          <a:p>
            <a:pPr indent="0" marL="0">
              <a:buNone/>
            </a:pPr>
            <a:r>
              <a:rPr lang="en-US" sz="1800" b="1" dirty="0">
                <a:solidFill>
                  <a:srgbClr val="3B82F6"/>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777240" y="3017520"/>
            <a:ext cx="3566160" cy="36576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Anomaly Score</a:t>
            </a:r>
            <a:endParaRPr lang="en-US" sz="1300" dirty="0"/>
          </a:p>
        </p:txBody>
      </p:sp>
      <p:sp>
        <p:nvSpPr>
          <p:cNvPr id="15" name="Text 13"/>
          <p:cNvSpPr/>
          <p:nvPr/>
        </p:nvSpPr>
        <p:spPr>
          <a:xfrm>
            <a:off x="365760" y="3429000"/>
            <a:ext cx="3931920" cy="86868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Score = average path length to isolation across all trees. Shorter path = more anomalous. No labeled data required.</a:t>
            </a:r>
            <a:endParaRPr lang="en-US" sz="1100" dirty="0"/>
          </a:p>
        </p:txBody>
      </p:sp>
      <p:sp>
        <p:nvSpPr>
          <p:cNvPr id="16" name="Shape 14"/>
          <p:cNvSpPr/>
          <p:nvPr/>
        </p:nvSpPr>
        <p:spPr>
          <a:xfrm>
            <a:off x="4709160" y="2926080"/>
            <a:ext cx="4160520" cy="1463040"/>
          </a:xfrm>
          <a:prstGeom prst="roundRect">
            <a:avLst>
              <a:gd name="adj" fmla="val 6250"/>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17" name="Text 15"/>
          <p:cNvSpPr/>
          <p:nvPr/>
        </p:nvSpPr>
        <p:spPr>
          <a:xfrm>
            <a:off x="4800600" y="3017520"/>
            <a:ext cx="365760" cy="365760"/>
          </a:xfrm>
          <a:prstGeom prst="rect">
            <a:avLst/>
          </a:prstGeom>
          <a:noFill/>
          <a:ln/>
        </p:spPr>
        <p:txBody>
          <a:bodyPr wrap="square" rtlCol="0" anchor="ctr"/>
          <a:lstStyle/>
          <a:p>
            <a:pPr indent="0" marL="0">
              <a:buNone/>
            </a:pPr>
            <a:r>
              <a:rPr lang="en-US" sz="1800" b="1" dirty="0">
                <a:solidFill>
                  <a:srgbClr val="3B82F6"/>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5212080" y="3017520"/>
            <a:ext cx="3566160" cy="365760"/>
          </a:xfrm>
          <a:prstGeom prst="rect">
            <a:avLst/>
          </a:prstGeom>
          <a:noFill/>
          <a:ln/>
        </p:spPr>
        <p:txBody>
          <a:bodyPr wrap="square" rtlCol="0" anchor="ctr"/>
          <a:lstStyle/>
          <a:p>
            <a:pPr indent="0" marL="0">
              <a:buNone/>
            </a:pPr>
            <a:r>
              <a:rPr lang="en-US" sz="1300" b="1" dirty="0">
                <a:solidFill>
                  <a:srgbClr val="CADCFC"/>
                </a:solidFill>
                <a:latin typeface="Arial" pitchFamily="34" charset="0"/>
                <a:ea typeface="Arial" pitchFamily="34" charset="-122"/>
                <a:cs typeface="Arial" pitchFamily="34" charset="-120"/>
              </a:rPr>
              <a:t>Why It Fits</a:t>
            </a:r>
            <a:endParaRPr lang="en-US" sz="1300" dirty="0"/>
          </a:p>
        </p:txBody>
      </p:sp>
      <p:sp>
        <p:nvSpPr>
          <p:cNvPr id="19" name="Text 17"/>
          <p:cNvSpPr/>
          <p:nvPr/>
        </p:nvSpPr>
        <p:spPr>
          <a:xfrm>
            <a:off x="4800600" y="3429000"/>
            <a:ext cx="3931920" cy="86868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No distributional assumption. Linear time complexity O(n). Scales to high-throughput authentication telemetry.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Dataset &amp; Feature Engineering</a:t>
            </a:r>
            <a:endParaRPr lang="en-US" sz="2600" dirty="0"/>
          </a:p>
        </p:txBody>
      </p:sp>
      <p:sp>
        <p:nvSpPr>
          <p:cNvPr id="3" name="Shape 1"/>
          <p:cNvSpPr/>
          <p:nvPr/>
        </p:nvSpPr>
        <p:spPr>
          <a:xfrm>
            <a:off x="274320" y="914400"/>
            <a:ext cx="3931920" cy="4023360"/>
          </a:xfrm>
          <a:prstGeom prst="roundRect">
            <a:avLst>
              <a:gd name="adj" fmla="val 2326"/>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4" name="Text 2"/>
          <p:cNvSpPr/>
          <p:nvPr/>
        </p:nvSpPr>
        <p:spPr>
          <a:xfrm>
            <a:off x="457200" y="1005840"/>
            <a:ext cx="3566160" cy="365760"/>
          </a:xfrm>
          <a:prstGeom prst="rect">
            <a:avLst/>
          </a:prstGeom>
          <a:noFill/>
          <a:ln/>
        </p:spPr>
        <p:txBody>
          <a:bodyPr wrap="square" rtlCol="0" anchor="ctr"/>
          <a:lstStyle/>
          <a:p>
            <a:pPr indent="0" marL="0">
              <a:buNone/>
            </a:pPr>
            <a:r>
              <a:rPr lang="en-US" sz="1400" b="1" dirty="0">
                <a:solidFill>
                  <a:srgbClr val="CADCFC"/>
                </a:solidFill>
                <a:latin typeface="Arial" pitchFamily="34" charset="0"/>
                <a:ea typeface="Arial" pitchFamily="34" charset="-122"/>
                <a:cs typeface="Arial" pitchFamily="34" charset="-120"/>
              </a:rPr>
              <a:t>Synthetic Dataset</a:t>
            </a:r>
            <a:endParaRPr lang="en-US" sz="1400" dirty="0"/>
          </a:p>
        </p:txBody>
      </p:sp>
      <p:sp>
        <p:nvSpPr>
          <p:cNvPr id="5" name="Text 3"/>
          <p:cNvSpPr/>
          <p:nvPr/>
        </p:nvSpPr>
        <p:spPr>
          <a:xfrm>
            <a:off x="457200" y="1508760"/>
            <a:ext cx="2011680" cy="36576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Total Events</a:t>
            </a:r>
            <a:endParaRPr lang="en-US" sz="1200" dirty="0"/>
          </a:p>
        </p:txBody>
      </p:sp>
      <p:sp>
        <p:nvSpPr>
          <p:cNvPr id="6" name="Text 4"/>
          <p:cNvSpPr/>
          <p:nvPr/>
        </p:nvSpPr>
        <p:spPr>
          <a:xfrm>
            <a:off x="2560320" y="1508760"/>
            <a:ext cx="14630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3,074</a:t>
            </a:r>
            <a:endParaRPr lang="en-US" sz="1200" dirty="0"/>
          </a:p>
        </p:txBody>
      </p:sp>
      <p:sp>
        <p:nvSpPr>
          <p:cNvPr id="7" name="Text 5"/>
          <p:cNvSpPr/>
          <p:nvPr/>
        </p:nvSpPr>
        <p:spPr>
          <a:xfrm>
            <a:off x="457200" y="2011680"/>
            <a:ext cx="2011680" cy="36576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Normal Logins</a:t>
            </a:r>
            <a:endParaRPr lang="en-US" sz="1200" dirty="0"/>
          </a:p>
        </p:txBody>
      </p:sp>
      <p:sp>
        <p:nvSpPr>
          <p:cNvPr id="8" name="Text 6"/>
          <p:cNvSpPr/>
          <p:nvPr/>
        </p:nvSpPr>
        <p:spPr>
          <a:xfrm>
            <a:off x="2560320" y="2011680"/>
            <a:ext cx="14630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3,000</a:t>
            </a:r>
            <a:endParaRPr lang="en-US" sz="1200" dirty="0"/>
          </a:p>
        </p:txBody>
      </p:sp>
      <p:sp>
        <p:nvSpPr>
          <p:cNvPr id="9" name="Text 7"/>
          <p:cNvSpPr/>
          <p:nvPr/>
        </p:nvSpPr>
        <p:spPr>
          <a:xfrm>
            <a:off x="457200" y="2514600"/>
            <a:ext cx="2011680" cy="36576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Injected Anomalies</a:t>
            </a:r>
            <a:endParaRPr lang="en-US" sz="1200" dirty="0"/>
          </a:p>
        </p:txBody>
      </p:sp>
      <p:sp>
        <p:nvSpPr>
          <p:cNvPr id="10" name="Text 8"/>
          <p:cNvSpPr/>
          <p:nvPr/>
        </p:nvSpPr>
        <p:spPr>
          <a:xfrm>
            <a:off x="2560320" y="2514600"/>
            <a:ext cx="14630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74 (2.41%)</a:t>
            </a:r>
            <a:endParaRPr lang="en-US" sz="1200" dirty="0"/>
          </a:p>
        </p:txBody>
      </p:sp>
      <p:sp>
        <p:nvSpPr>
          <p:cNvPr id="11" name="Text 9"/>
          <p:cNvSpPr/>
          <p:nvPr/>
        </p:nvSpPr>
        <p:spPr>
          <a:xfrm>
            <a:off x="457200" y="3017520"/>
            <a:ext cx="2011680" cy="36576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Users</a:t>
            </a:r>
            <a:endParaRPr lang="en-US" sz="1200" dirty="0"/>
          </a:p>
        </p:txBody>
      </p:sp>
      <p:sp>
        <p:nvSpPr>
          <p:cNvPr id="12" name="Text 10"/>
          <p:cNvSpPr/>
          <p:nvPr/>
        </p:nvSpPr>
        <p:spPr>
          <a:xfrm>
            <a:off x="2560320" y="3017520"/>
            <a:ext cx="14630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50</a:t>
            </a:r>
            <a:endParaRPr lang="en-US" sz="1200" dirty="0"/>
          </a:p>
        </p:txBody>
      </p:sp>
      <p:sp>
        <p:nvSpPr>
          <p:cNvPr id="13" name="Text 11"/>
          <p:cNvSpPr/>
          <p:nvPr/>
        </p:nvSpPr>
        <p:spPr>
          <a:xfrm>
            <a:off x="457200" y="3520440"/>
            <a:ext cx="2011680" cy="36576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Time Span</a:t>
            </a:r>
            <a:endParaRPr lang="en-US" sz="1200" dirty="0"/>
          </a:p>
        </p:txBody>
      </p:sp>
      <p:sp>
        <p:nvSpPr>
          <p:cNvPr id="14" name="Text 12"/>
          <p:cNvSpPr/>
          <p:nvPr/>
        </p:nvSpPr>
        <p:spPr>
          <a:xfrm>
            <a:off x="2560320" y="3520440"/>
            <a:ext cx="14630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months</a:t>
            </a:r>
            <a:endParaRPr lang="en-US" sz="1200" dirty="0"/>
          </a:p>
        </p:txBody>
      </p:sp>
      <p:sp>
        <p:nvSpPr>
          <p:cNvPr id="15" name="Text 13"/>
          <p:cNvSpPr/>
          <p:nvPr/>
        </p:nvSpPr>
        <p:spPr>
          <a:xfrm>
            <a:off x="457200" y="4160520"/>
            <a:ext cx="3566160" cy="27432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Anomaly Types</a:t>
            </a:r>
            <a:endParaRPr lang="en-US" sz="1100" dirty="0"/>
          </a:p>
        </p:txBody>
      </p:sp>
      <p:sp>
        <p:nvSpPr>
          <p:cNvPr id="16" name="Text 14"/>
          <p:cNvSpPr/>
          <p:nvPr/>
        </p:nvSpPr>
        <p:spPr>
          <a:xfrm>
            <a:off x="457200" y="4434840"/>
            <a:ext cx="2286000" cy="18288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Impossible Travel</a:t>
            </a:r>
            <a:endParaRPr lang="en-US" sz="1000" dirty="0"/>
          </a:p>
        </p:txBody>
      </p:sp>
      <p:sp>
        <p:nvSpPr>
          <p:cNvPr id="17" name="Text 15"/>
          <p:cNvSpPr/>
          <p:nvPr/>
        </p:nvSpPr>
        <p:spPr>
          <a:xfrm>
            <a:off x="2834640" y="4434840"/>
            <a:ext cx="731520" cy="1828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30</a:t>
            </a:r>
            <a:endParaRPr lang="en-US" sz="1000" dirty="0"/>
          </a:p>
        </p:txBody>
      </p:sp>
      <p:sp>
        <p:nvSpPr>
          <p:cNvPr id="18" name="Text 16"/>
          <p:cNvSpPr/>
          <p:nvPr/>
        </p:nvSpPr>
        <p:spPr>
          <a:xfrm>
            <a:off x="457200" y="4599432"/>
            <a:ext cx="2286000" cy="18288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Typing Speed</a:t>
            </a:r>
            <a:endParaRPr lang="en-US" sz="1000" dirty="0"/>
          </a:p>
        </p:txBody>
      </p:sp>
      <p:sp>
        <p:nvSpPr>
          <p:cNvPr id="19" name="Text 17"/>
          <p:cNvSpPr/>
          <p:nvPr/>
        </p:nvSpPr>
        <p:spPr>
          <a:xfrm>
            <a:off x="2834640" y="4599432"/>
            <a:ext cx="731520" cy="1828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18</a:t>
            </a:r>
            <a:endParaRPr lang="en-US" sz="1000" dirty="0"/>
          </a:p>
        </p:txBody>
      </p:sp>
      <p:sp>
        <p:nvSpPr>
          <p:cNvPr id="20" name="Text 18"/>
          <p:cNvSpPr/>
          <p:nvPr/>
        </p:nvSpPr>
        <p:spPr>
          <a:xfrm>
            <a:off x="457200" y="4764024"/>
            <a:ext cx="2286000" cy="18288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Click-Through</a:t>
            </a:r>
            <a:endParaRPr lang="en-US" sz="1000" dirty="0"/>
          </a:p>
        </p:txBody>
      </p:sp>
      <p:sp>
        <p:nvSpPr>
          <p:cNvPr id="21" name="Text 19"/>
          <p:cNvSpPr/>
          <p:nvPr/>
        </p:nvSpPr>
        <p:spPr>
          <a:xfrm>
            <a:off x="2834640" y="4764024"/>
            <a:ext cx="731520" cy="1828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15</a:t>
            </a:r>
            <a:endParaRPr lang="en-US" sz="1000" dirty="0"/>
          </a:p>
        </p:txBody>
      </p:sp>
      <p:sp>
        <p:nvSpPr>
          <p:cNvPr id="22" name="Text 20"/>
          <p:cNvSpPr/>
          <p:nvPr/>
        </p:nvSpPr>
        <p:spPr>
          <a:xfrm>
            <a:off x="457200" y="4928616"/>
            <a:ext cx="2286000" cy="18288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Session Timing</a:t>
            </a:r>
            <a:endParaRPr lang="en-US" sz="1000" dirty="0"/>
          </a:p>
        </p:txBody>
      </p:sp>
      <p:sp>
        <p:nvSpPr>
          <p:cNvPr id="23" name="Text 21"/>
          <p:cNvSpPr/>
          <p:nvPr/>
        </p:nvSpPr>
        <p:spPr>
          <a:xfrm>
            <a:off x="2834640" y="4928616"/>
            <a:ext cx="731520" cy="1828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11</a:t>
            </a:r>
            <a:endParaRPr lang="en-US" sz="1000" dirty="0"/>
          </a:p>
        </p:txBody>
      </p:sp>
      <p:sp>
        <p:nvSpPr>
          <p:cNvPr id="24" name="Text 22"/>
          <p:cNvSpPr/>
          <p:nvPr/>
        </p:nvSpPr>
        <p:spPr>
          <a:xfrm>
            <a:off x="4480560" y="914400"/>
            <a:ext cx="4389120" cy="365760"/>
          </a:xfrm>
          <a:prstGeom prst="rect">
            <a:avLst/>
          </a:prstGeom>
          <a:noFill/>
          <a:ln/>
        </p:spPr>
        <p:txBody>
          <a:bodyPr wrap="square" rtlCol="0" anchor="ctr"/>
          <a:lstStyle/>
          <a:p>
            <a:pPr indent="0" marL="0">
              <a:buNone/>
            </a:pPr>
            <a:r>
              <a:rPr lang="en-US" sz="1400" b="1" dirty="0">
                <a:solidFill>
                  <a:srgbClr val="1E2761"/>
                </a:solidFill>
                <a:latin typeface="Arial" pitchFamily="34" charset="0"/>
                <a:ea typeface="Arial" pitchFamily="34" charset="-122"/>
                <a:cs typeface="Arial" pitchFamily="34" charset="-120"/>
              </a:rPr>
              <a:t>Engineered Features</a:t>
            </a:r>
            <a:endParaRPr lang="en-US" sz="1400" dirty="0"/>
          </a:p>
        </p:txBody>
      </p:sp>
      <p:sp>
        <p:nvSpPr>
          <p:cNvPr id="25" name="Shape 23"/>
          <p:cNvSpPr/>
          <p:nvPr/>
        </p:nvSpPr>
        <p:spPr>
          <a:xfrm>
            <a:off x="4389120" y="1371600"/>
            <a:ext cx="4572000" cy="502920"/>
          </a:xfrm>
          <a:prstGeom prst="roundRect">
            <a:avLst>
              <a:gd name="adj" fmla="val 12727"/>
            </a:avLst>
          </a:prstGeom>
          <a:solidFill>
            <a:srgbClr val="FFFFFF"/>
          </a:solidFill>
          <a:ln w="6350">
            <a:solidFill>
              <a:srgbClr val="E2E8F0"/>
            </a:solidFill>
            <a:prstDash val="solid"/>
          </a:ln>
          <a:effectLst>
            <a:outerShdw sx="100000" sy="100000" kx="0" ky="0" algn="bl" rotWithShape="0" blurRad="50800" dist="12700" dir="2700000">
              <a:srgbClr val="000000">
                <a:alpha val="10000"/>
              </a:srgbClr>
            </a:outerShdw>
          </a:effectLst>
        </p:spPr>
      </p:sp>
      <p:sp>
        <p:nvSpPr>
          <p:cNvPr id="26" name="Text 24"/>
          <p:cNvSpPr/>
          <p:nvPr/>
        </p:nvSpPr>
        <p:spPr>
          <a:xfrm>
            <a:off x="4572000" y="1417320"/>
            <a:ext cx="2194560" cy="201168"/>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typing_speed_wpm</a:t>
            </a:r>
            <a:endParaRPr lang="en-US" sz="1000" dirty="0"/>
          </a:p>
        </p:txBody>
      </p:sp>
      <p:sp>
        <p:nvSpPr>
          <p:cNvPr id="27" name="Text 25"/>
          <p:cNvSpPr/>
          <p:nvPr/>
        </p:nvSpPr>
        <p:spPr>
          <a:xfrm>
            <a:off x="4572000" y="1618488"/>
            <a:ext cx="4206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Behavioral biometric — scripted access shows abnormal cadence</a:t>
            </a:r>
            <a:endParaRPr lang="en-US" sz="900" dirty="0"/>
          </a:p>
        </p:txBody>
      </p:sp>
      <p:sp>
        <p:nvSpPr>
          <p:cNvPr id="28" name="Shape 26"/>
          <p:cNvSpPr/>
          <p:nvPr/>
        </p:nvSpPr>
        <p:spPr>
          <a:xfrm>
            <a:off x="4389120" y="1947672"/>
            <a:ext cx="4572000" cy="502920"/>
          </a:xfrm>
          <a:prstGeom prst="roundRect">
            <a:avLst>
              <a:gd name="adj" fmla="val 12727"/>
            </a:avLst>
          </a:prstGeom>
          <a:solidFill>
            <a:srgbClr val="FFFFFF"/>
          </a:solidFill>
          <a:ln w="6350">
            <a:solidFill>
              <a:srgbClr val="E2E8F0"/>
            </a:solidFill>
            <a:prstDash val="solid"/>
          </a:ln>
          <a:effectLst>
            <a:outerShdw sx="100000" sy="100000" kx="0" ky="0" algn="bl" rotWithShape="0" blurRad="50800" dist="12700" dir="2700000">
              <a:srgbClr val="000000">
                <a:alpha val="10000"/>
              </a:srgbClr>
            </a:outerShdw>
          </a:effectLst>
        </p:spPr>
      </p:sp>
      <p:sp>
        <p:nvSpPr>
          <p:cNvPr id="29" name="Text 27"/>
          <p:cNvSpPr/>
          <p:nvPr/>
        </p:nvSpPr>
        <p:spPr>
          <a:xfrm>
            <a:off x="4572000" y="1993392"/>
            <a:ext cx="2194560" cy="201168"/>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click_through_rate</a:t>
            </a:r>
            <a:endParaRPr lang="en-US" sz="1000" dirty="0"/>
          </a:p>
        </p:txBody>
      </p:sp>
      <p:sp>
        <p:nvSpPr>
          <p:cNvPr id="30" name="Text 28"/>
          <p:cNvSpPr/>
          <p:nvPr/>
        </p:nvSpPr>
        <p:spPr>
          <a:xfrm>
            <a:off x="4572000" y="2194560"/>
            <a:ext cx="4206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Session navigation pattern — bots near 0.0 or 1.0</a:t>
            </a:r>
            <a:endParaRPr lang="en-US" sz="900" dirty="0"/>
          </a:p>
        </p:txBody>
      </p:sp>
      <p:sp>
        <p:nvSpPr>
          <p:cNvPr id="31" name="Shape 29"/>
          <p:cNvSpPr/>
          <p:nvPr/>
        </p:nvSpPr>
        <p:spPr>
          <a:xfrm>
            <a:off x="4389120" y="2523744"/>
            <a:ext cx="4572000" cy="502920"/>
          </a:xfrm>
          <a:prstGeom prst="roundRect">
            <a:avLst>
              <a:gd name="adj" fmla="val 12727"/>
            </a:avLst>
          </a:prstGeom>
          <a:solidFill>
            <a:srgbClr val="FFFFFF"/>
          </a:solidFill>
          <a:ln w="6350">
            <a:solidFill>
              <a:srgbClr val="E2E8F0"/>
            </a:solidFill>
            <a:prstDash val="solid"/>
          </a:ln>
          <a:effectLst>
            <a:outerShdw sx="100000" sy="100000" kx="0" ky="0" algn="bl" rotWithShape="0" blurRad="50800" dist="12700" dir="2700000">
              <a:srgbClr val="000000">
                <a:alpha val="10000"/>
              </a:srgbClr>
            </a:outerShdw>
          </a:effectLst>
        </p:spPr>
      </p:sp>
      <p:sp>
        <p:nvSpPr>
          <p:cNvPr id="32" name="Text 30"/>
          <p:cNvSpPr/>
          <p:nvPr/>
        </p:nvSpPr>
        <p:spPr>
          <a:xfrm>
            <a:off x="4572000" y="2569464"/>
            <a:ext cx="2194560" cy="201168"/>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login_hour</a:t>
            </a:r>
            <a:endParaRPr lang="en-US" sz="1000" dirty="0"/>
          </a:p>
        </p:txBody>
      </p:sp>
      <p:sp>
        <p:nvSpPr>
          <p:cNvPr id="33" name="Text 31"/>
          <p:cNvSpPr/>
          <p:nvPr/>
        </p:nvSpPr>
        <p:spPr>
          <a:xfrm>
            <a:off x="4572000" y="2770632"/>
            <a:ext cx="4206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Temporal signal — 1–4 AM outside user baseline</a:t>
            </a:r>
            <a:endParaRPr lang="en-US" sz="900" dirty="0"/>
          </a:p>
        </p:txBody>
      </p:sp>
      <p:sp>
        <p:nvSpPr>
          <p:cNvPr id="34" name="Shape 32"/>
          <p:cNvSpPr/>
          <p:nvPr/>
        </p:nvSpPr>
        <p:spPr>
          <a:xfrm>
            <a:off x="4389120" y="3099816"/>
            <a:ext cx="4572000" cy="502920"/>
          </a:xfrm>
          <a:prstGeom prst="roundRect">
            <a:avLst>
              <a:gd name="adj" fmla="val 12727"/>
            </a:avLst>
          </a:prstGeom>
          <a:solidFill>
            <a:srgbClr val="FFFFFF"/>
          </a:solidFill>
          <a:ln w="6350">
            <a:solidFill>
              <a:srgbClr val="E2E8F0"/>
            </a:solidFill>
            <a:prstDash val="solid"/>
          </a:ln>
          <a:effectLst>
            <a:outerShdw sx="100000" sy="100000" kx="0" ky="0" algn="bl" rotWithShape="0" blurRad="50800" dist="12700" dir="2700000">
              <a:srgbClr val="000000">
                <a:alpha val="10000"/>
              </a:srgbClr>
            </a:outerShdw>
          </a:effectLst>
        </p:spPr>
      </p:sp>
      <p:sp>
        <p:nvSpPr>
          <p:cNvPr id="35" name="Text 33"/>
          <p:cNvSpPr/>
          <p:nvPr/>
        </p:nvSpPr>
        <p:spPr>
          <a:xfrm>
            <a:off x="4572000" y="3145536"/>
            <a:ext cx="2194560" cy="201168"/>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hours_since_last_login</a:t>
            </a:r>
            <a:endParaRPr lang="en-US" sz="1000" dirty="0"/>
          </a:p>
        </p:txBody>
      </p:sp>
      <p:sp>
        <p:nvSpPr>
          <p:cNvPr id="36" name="Text 34"/>
          <p:cNvSpPr/>
          <p:nvPr/>
        </p:nvSpPr>
        <p:spPr>
          <a:xfrm>
            <a:off x="4572000" y="3346704"/>
            <a:ext cx="4206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Time delta — impossibly short for trans-continental travel</a:t>
            </a:r>
            <a:endParaRPr lang="en-US" sz="900" dirty="0"/>
          </a:p>
        </p:txBody>
      </p:sp>
      <p:sp>
        <p:nvSpPr>
          <p:cNvPr id="37" name="Shape 35"/>
          <p:cNvSpPr/>
          <p:nvPr/>
        </p:nvSpPr>
        <p:spPr>
          <a:xfrm>
            <a:off x="4389120" y="3675888"/>
            <a:ext cx="4572000" cy="502920"/>
          </a:xfrm>
          <a:prstGeom prst="roundRect">
            <a:avLst>
              <a:gd name="adj" fmla="val 12727"/>
            </a:avLst>
          </a:prstGeom>
          <a:solidFill>
            <a:srgbClr val="FFFFFF"/>
          </a:solidFill>
          <a:ln w="6350">
            <a:solidFill>
              <a:srgbClr val="E2E8F0"/>
            </a:solidFill>
            <a:prstDash val="solid"/>
          </a:ln>
          <a:effectLst>
            <a:outerShdw sx="100000" sy="100000" kx="0" ky="0" algn="bl" rotWithShape="0" blurRad="50800" dist="12700" dir="2700000">
              <a:srgbClr val="000000">
                <a:alpha val="10000"/>
              </a:srgbClr>
            </a:outerShdw>
          </a:effectLst>
        </p:spPr>
      </p:sp>
      <p:sp>
        <p:nvSpPr>
          <p:cNvPr id="38" name="Text 36"/>
          <p:cNvSpPr/>
          <p:nvPr/>
        </p:nvSpPr>
        <p:spPr>
          <a:xfrm>
            <a:off x="4572000" y="3721608"/>
            <a:ext cx="2194560" cy="201168"/>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distance_from_last_login</a:t>
            </a:r>
            <a:endParaRPr lang="en-US" sz="1000" dirty="0"/>
          </a:p>
        </p:txBody>
      </p:sp>
      <p:sp>
        <p:nvSpPr>
          <p:cNvPr id="39" name="Text 37"/>
          <p:cNvSpPr/>
          <p:nvPr/>
        </p:nvSpPr>
        <p:spPr>
          <a:xfrm>
            <a:off x="4572000" y="3922776"/>
            <a:ext cx="4206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Haversine great-circle distance from prior login (km)</a:t>
            </a:r>
            <a:endParaRPr lang="en-US" sz="900" dirty="0"/>
          </a:p>
        </p:txBody>
      </p:sp>
      <p:sp>
        <p:nvSpPr>
          <p:cNvPr id="40" name="Shape 38"/>
          <p:cNvSpPr/>
          <p:nvPr/>
        </p:nvSpPr>
        <p:spPr>
          <a:xfrm>
            <a:off x="4389120" y="4251960"/>
            <a:ext cx="4572000" cy="502920"/>
          </a:xfrm>
          <a:prstGeom prst="roundRect">
            <a:avLst>
              <a:gd name="adj" fmla="val 12727"/>
            </a:avLst>
          </a:prstGeom>
          <a:solidFill>
            <a:srgbClr val="FFFFFF"/>
          </a:solidFill>
          <a:ln w="6350">
            <a:solidFill>
              <a:srgbClr val="E2E8F0"/>
            </a:solidFill>
            <a:prstDash val="solid"/>
          </a:ln>
          <a:effectLst>
            <a:outerShdw sx="100000" sy="100000" kx="0" ky="0" algn="bl" rotWithShape="0" blurRad="50800" dist="12700" dir="2700000">
              <a:srgbClr val="000000">
                <a:alpha val="10000"/>
              </a:srgbClr>
            </a:outerShdw>
          </a:effectLst>
        </p:spPr>
      </p:sp>
      <p:sp>
        <p:nvSpPr>
          <p:cNvPr id="41" name="Text 39"/>
          <p:cNvSpPr/>
          <p:nvPr/>
        </p:nvSpPr>
        <p:spPr>
          <a:xfrm>
            <a:off x="4572000" y="4297680"/>
            <a:ext cx="2194560" cy="201168"/>
          </a:xfrm>
          <a:prstGeom prst="rect">
            <a:avLst/>
          </a:prstGeom>
          <a:noFill/>
          <a:ln/>
        </p:spPr>
        <p:txBody>
          <a:bodyPr wrap="square"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velocity_kmh</a:t>
            </a:r>
            <a:endParaRPr lang="en-US" sz="1000" dirty="0"/>
          </a:p>
        </p:txBody>
      </p:sp>
      <p:sp>
        <p:nvSpPr>
          <p:cNvPr id="42" name="Text 40"/>
          <p:cNvSpPr/>
          <p:nvPr/>
        </p:nvSpPr>
        <p:spPr>
          <a:xfrm>
            <a:off x="4572000" y="4498848"/>
            <a:ext cx="4206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Derived: distance / time — values &gt;1,200 km/h physically impossible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Results: Anomaly Score Distribution</a:t>
            </a:r>
            <a:endParaRPr lang="en-US" sz="2600" dirty="0"/>
          </a:p>
        </p:txBody>
      </p:sp>
      <p:pic>
        <p:nvPicPr>
          <p:cNvPr id="3" name="Image 0" descr="preencoded.png">    </p:cNvPr>
          <p:cNvPicPr>
            <a:picLocks noChangeAspect="1"/>
          </p:cNvPicPr>
          <p:nvPr/>
        </p:nvPicPr>
        <p:blipFill>
          <a:blip r:embed="rId1"/>
          <a:stretch>
            <a:fillRect/>
          </a:stretch>
        </p:blipFill>
        <p:spPr>
          <a:xfrm>
            <a:off x="274320" y="777240"/>
            <a:ext cx="5943600" cy="3566160"/>
          </a:xfrm>
          <a:prstGeom prst="rect">
            <a:avLst/>
          </a:prstGeom>
        </p:spPr>
      </p:pic>
      <p:sp>
        <p:nvSpPr>
          <p:cNvPr id="4" name="Shape 1"/>
          <p:cNvSpPr/>
          <p:nvPr/>
        </p:nvSpPr>
        <p:spPr>
          <a:xfrm>
            <a:off x="6400800" y="777240"/>
            <a:ext cx="25603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5" name="Text 2"/>
          <p:cNvSpPr/>
          <p:nvPr/>
        </p:nvSpPr>
        <p:spPr>
          <a:xfrm>
            <a:off x="6492240" y="804672"/>
            <a:ext cx="2377440" cy="274320"/>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Normal Events</a:t>
            </a:r>
            <a:endParaRPr lang="en-US" sz="1000" dirty="0"/>
          </a:p>
        </p:txBody>
      </p:sp>
      <p:sp>
        <p:nvSpPr>
          <p:cNvPr id="6" name="Text 3"/>
          <p:cNvSpPr/>
          <p:nvPr/>
        </p:nvSpPr>
        <p:spPr>
          <a:xfrm>
            <a:off x="6492240" y="1078992"/>
            <a:ext cx="2377440" cy="54864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Score −0.40 to −0.55. Dense cluster — many splits to isolate.</a:t>
            </a:r>
            <a:endParaRPr lang="en-US" sz="900" dirty="0"/>
          </a:p>
        </p:txBody>
      </p:sp>
      <p:sp>
        <p:nvSpPr>
          <p:cNvPr id="7" name="Shape 4"/>
          <p:cNvSpPr/>
          <p:nvPr/>
        </p:nvSpPr>
        <p:spPr>
          <a:xfrm>
            <a:off x="6400800" y="1783080"/>
            <a:ext cx="25603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8" name="Text 5"/>
          <p:cNvSpPr/>
          <p:nvPr/>
        </p:nvSpPr>
        <p:spPr>
          <a:xfrm>
            <a:off x="6492240" y="1810512"/>
            <a:ext cx="2377440" cy="274320"/>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Anomalous Events</a:t>
            </a:r>
            <a:endParaRPr lang="en-US" sz="1000" dirty="0"/>
          </a:p>
        </p:txBody>
      </p:sp>
      <p:sp>
        <p:nvSpPr>
          <p:cNvPr id="9" name="Text 6"/>
          <p:cNvSpPr/>
          <p:nvPr/>
        </p:nvSpPr>
        <p:spPr>
          <a:xfrm>
            <a:off x="6492240" y="2084832"/>
            <a:ext cx="2377440" cy="54864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Score below −0.60. Fewer splits needed due to sparse feature space.</a:t>
            </a:r>
            <a:endParaRPr lang="en-US" sz="900" dirty="0"/>
          </a:p>
        </p:txBody>
      </p:sp>
      <p:sp>
        <p:nvSpPr>
          <p:cNvPr id="10" name="Shape 7"/>
          <p:cNvSpPr/>
          <p:nvPr/>
        </p:nvSpPr>
        <p:spPr>
          <a:xfrm>
            <a:off x="6400800" y="2788920"/>
            <a:ext cx="25603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1" name="Text 8"/>
          <p:cNvSpPr/>
          <p:nvPr/>
        </p:nvSpPr>
        <p:spPr>
          <a:xfrm>
            <a:off x="6492240" y="2816352"/>
            <a:ext cx="2377440" cy="274320"/>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Impossible Travel</a:t>
            </a:r>
            <a:endParaRPr lang="en-US" sz="1000" dirty="0"/>
          </a:p>
        </p:txBody>
      </p:sp>
      <p:sp>
        <p:nvSpPr>
          <p:cNvPr id="12" name="Text 9"/>
          <p:cNvSpPr/>
          <p:nvPr/>
        </p:nvSpPr>
        <p:spPr>
          <a:xfrm>
            <a:off x="6492240" y="3090672"/>
            <a:ext cx="2377440" cy="54864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Scores approaching −0.79 — most extreme outliers in the dataset.</a:t>
            </a:r>
            <a:endParaRPr lang="en-US" sz="900" dirty="0"/>
          </a:p>
        </p:txBody>
      </p:sp>
      <p:sp>
        <p:nvSpPr>
          <p:cNvPr id="13" name="Shape 10"/>
          <p:cNvSpPr/>
          <p:nvPr/>
        </p:nvSpPr>
        <p:spPr>
          <a:xfrm>
            <a:off x="6400800" y="3794760"/>
            <a:ext cx="25603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4" name="Text 11"/>
          <p:cNvSpPr/>
          <p:nvPr/>
        </p:nvSpPr>
        <p:spPr>
          <a:xfrm>
            <a:off x="6492240" y="3822192"/>
            <a:ext cx="2377440" cy="274320"/>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Overlap Region</a:t>
            </a:r>
            <a:endParaRPr lang="en-US" sz="1000" dirty="0"/>
          </a:p>
        </p:txBody>
      </p:sp>
      <p:sp>
        <p:nvSpPr>
          <p:cNvPr id="15" name="Text 12"/>
          <p:cNvSpPr/>
          <p:nvPr/>
        </p:nvSpPr>
        <p:spPr>
          <a:xfrm>
            <a:off x="6492240" y="4096512"/>
            <a:ext cx="2377440" cy="54864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6 false negatives and 9 false positives occur at the distribution boundary.</a:t>
            </a:r>
            <a:endParaRPr lang="en-US" sz="900" dirty="0"/>
          </a:p>
        </p:txBody>
      </p:sp>
      <p:sp>
        <p:nvSpPr>
          <p:cNvPr id="16" name="Text 13"/>
          <p:cNvSpPr/>
          <p:nvPr/>
        </p:nvSpPr>
        <p:spPr>
          <a:xfrm>
            <a:off x="365760" y="4846320"/>
            <a:ext cx="8229600" cy="182880"/>
          </a:xfrm>
          <a:prstGeom prst="rect">
            <a:avLst/>
          </a:prstGeom>
          <a:noFill/>
          <a:ln/>
        </p:spPr>
        <p:txBody>
          <a:bodyPr wrap="square" rtlCol="0" anchor="ctr"/>
          <a:lstStyle/>
          <a:p>
            <a:pPr indent="0" marL="0">
              <a:buNone/>
            </a:pPr>
            <a:r>
              <a:rPr lang="en-US" sz="900" i="1" dirty="0">
                <a:solidFill>
                  <a:srgbClr val="94A3B8"/>
                </a:solidFill>
                <a:latin typeface="Arial" pitchFamily="34" charset="0"/>
                <a:ea typeface="Arial" pitchFamily="34" charset="-122"/>
                <a:cs typeface="Arial" pitchFamily="34" charset="-120"/>
              </a:rPr>
              <a:t>sklearn IsolationForest.score_samples() — raw values, more negative = more anomalous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Results: Velocity vs. Anomaly Score</a:t>
            </a:r>
            <a:endParaRPr lang="en-US" sz="2600" dirty="0"/>
          </a:p>
        </p:txBody>
      </p:sp>
      <p:pic>
        <p:nvPicPr>
          <p:cNvPr id="3" name="Image 0" descr="preencoded.png">    </p:cNvPr>
          <p:cNvPicPr>
            <a:picLocks noChangeAspect="1"/>
          </p:cNvPicPr>
          <p:nvPr/>
        </p:nvPicPr>
        <p:blipFill>
          <a:blip r:embed="rId1"/>
          <a:stretch>
            <a:fillRect/>
          </a:stretch>
        </p:blipFill>
        <p:spPr>
          <a:xfrm>
            <a:off x="274320" y="777240"/>
            <a:ext cx="5943600" cy="3566160"/>
          </a:xfrm>
          <a:prstGeom prst="rect">
            <a:avLst/>
          </a:prstGeom>
        </p:spPr>
      </p:pic>
      <p:sp>
        <p:nvSpPr>
          <p:cNvPr id="4" name="Shape 1"/>
          <p:cNvSpPr/>
          <p:nvPr/>
        </p:nvSpPr>
        <p:spPr>
          <a:xfrm>
            <a:off x="6400800" y="777240"/>
            <a:ext cx="2560320" cy="3977640"/>
          </a:xfrm>
          <a:prstGeom prst="roundRect">
            <a:avLst>
              <a:gd name="adj" fmla="val 3571"/>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5" name="Text 2"/>
          <p:cNvSpPr/>
          <p:nvPr/>
        </p:nvSpPr>
        <p:spPr>
          <a:xfrm>
            <a:off x="6492240" y="868680"/>
            <a:ext cx="2377440" cy="320040"/>
          </a:xfrm>
          <a:prstGeom prst="rect">
            <a:avLst/>
          </a:prstGeom>
          <a:noFill/>
          <a:ln/>
        </p:spPr>
        <p:txBody>
          <a:bodyPr wrap="square" rtlCol="0" anchor="ctr"/>
          <a:lstStyle/>
          <a:p>
            <a:pPr indent="0" marL="0">
              <a:buNone/>
            </a:pPr>
            <a:r>
              <a:rPr lang="en-US" sz="1200" b="1" dirty="0">
                <a:solidFill>
                  <a:srgbClr val="CADCFC"/>
                </a:solidFill>
                <a:latin typeface="Arial" pitchFamily="34" charset="0"/>
                <a:ea typeface="Arial" pitchFamily="34" charset="-122"/>
                <a:cs typeface="Arial" pitchFamily="34" charset="-120"/>
              </a:rPr>
              <a:t>Reading the Plot</a:t>
            </a:r>
            <a:endParaRPr lang="en-US" sz="1200" dirty="0"/>
          </a:p>
        </p:txBody>
      </p:sp>
      <p:sp>
        <p:nvSpPr>
          <p:cNvPr id="6" name="Text 3"/>
          <p:cNvSpPr/>
          <p:nvPr/>
        </p:nvSpPr>
        <p:spPr>
          <a:xfrm>
            <a:off x="6492240" y="1280160"/>
            <a:ext cx="2377440" cy="25603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Blue (Normal)</a:t>
            </a:r>
            <a:endParaRPr lang="en-US" sz="1000" dirty="0"/>
          </a:p>
        </p:txBody>
      </p:sp>
      <p:sp>
        <p:nvSpPr>
          <p:cNvPr id="7" name="Text 4"/>
          <p:cNvSpPr/>
          <p:nvPr/>
        </p:nvSpPr>
        <p:spPr>
          <a:xfrm>
            <a:off x="6492240" y="1536192"/>
            <a:ext cx="2377440" cy="4114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Low velocity, score −0.40 to −0.55</a:t>
            </a:r>
            <a:endParaRPr lang="en-US" sz="900" dirty="0"/>
          </a:p>
        </p:txBody>
      </p:sp>
      <p:sp>
        <p:nvSpPr>
          <p:cNvPr id="8" name="Text 5"/>
          <p:cNvSpPr/>
          <p:nvPr/>
        </p:nvSpPr>
        <p:spPr>
          <a:xfrm>
            <a:off x="6492240" y="2029968"/>
            <a:ext cx="2377440" cy="25603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Orange (Anomaly)</a:t>
            </a:r>
            <a:endParaRPr lang="en-US" sz="1000" dirty="0"/>
          </a:p>
        </p:txBody>
      </p:sp>
      <p:sp>
        <p:nvSpPr>
          <p:cNvPr id="9" name="Text 6"/>
          <p:cNvSpPr/>
          <p:nvPr/>
        </p:nvSpPr>
        <p:spPr>
          <a:xfrm>
            <a:off x="6492240" y="2286000"/>
            <a:ext cx="2377440" cy="4114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Left cluster: behavioral anomalies, same location. Right spread: impossible travel</a:t>
            </a:r>
            <a:endParaRPr lang="en-US" sz="900" dirty="0"/>
          </a:p>
        </p:txBody>
      </p:sp>
      <p:sp>
        <p:nvSpPr>
          <p:cNvPr id="10" name="Text 7"/>
          <p:cNvSpPr/>
          <p:nvPr/>
        </p:nvSpPr>
        <p:spPr>
          <a:xfrm>
            <a:off x="6492240" y="2779776"/>
            <a:ext cx="2377440" cy="25603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Key Insight</a:t>
            </a:r>
            <a:endParaRPr lang="en-US" sz="1000" dirty="0"/>
          </a:p>
        </p:txBody>
      </p:sp>
      <p:sp>
        <p:nvSpPr>
          <p:cNvPr id="11" name="Text 8"/>
          <p:cNvSpPr/>
          <p:nvPr/>
        </p:nvSpPr>
        <p:spPr>
          <a:xfrm>
            <a:off x="6492240" y="3035808"/>
            <a:ext cx="2377440" cy="4114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Behavioral signals catch attackers even when location is masked by VPN/proxy</a:t>
            </a:r>
            <a:endParaRPr lang="en-US" sz="900" dirty="0"/>
          </a:p>
        </p:txBody>
      </p:sp>
      <p:sp>
        <p:nvSpPr>
          <p:cNvPr id="12" name="Text 9"/>
          <p:cNvSpPr/>
          <p:nvPr/>
        </p:nvSpPr>
        <p:spPr>
          <a:xfrm>
            <a:off x="6492240" y="3529584"/>
            <a:ext cx="2377440" cy="256032"/>
          </a:xfrm>
          <a:prstGeom prst="rect">
            <a:avLst/>
          </a:prstGeom>
          <a:noFill/>
          <a:ln/>
        </p:spPr>
        <p:txBody>
          <a:bodyPr wrap="square" rtlCol="0" anchor="ctr"/>
          <a:lstStyle/>
          <a:p>
            <a:pPr indent="0" marL="0">
              <a:buNone/>
            </a:pPr>
            <a:r>
              <a:rPr lang="en-US" sz="1000" b="1" dirty="0">
                <a:solidFill>
                  <a:srgbClr val="CADCFC"/>
                </a:solidFill>
                <a:latin typeface="Arial" pitchFamily="34" charset="0"/>
                <a:ea typeface="Arial" pitchFamily="34" charset="-122"/>
                <a:cs typeface="Arial" pitchFamily="34" charset="-120"/>
              </a:rPr>
              <a:t>94,578 km/h</a:t>
            </a:r>
            <a:endParaRPr lang="en-US" sz="1000" dirty="0"/>
          </a:p>
        </p:txBody>
      </p:sp>
      <p:sp>
        <p:nvSpPr>
          <p:cNvPr id="13" name="Text 10"/>
          <p:cNvSpPr/>
          <p:nvPr/>
        </p:nvSpPr>
        <p:spPr>
          <a:xfrm>
            <a:off x="6492240" y="3785616"/>
            <a:ext cx="2377440" cy="41148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Most extreme impossible travel — New York to Beijing in 8 minutes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Results: Classification Performance</a:t>
            </a:r>
            <a:endParaRPr lang="en-US" sz="2600" dirty="0"/>
          </a:p>
        </p:txBody>
      </p:sp>
      <p:pic>
        <p:nvPicPr>
          <p:cNvPr id="3" name="Image 0" descr="preencoded.png">    </p:cNvPr>
          <p:cNvPicPr>
            <a:picLocks noChangeAspect="1"/>
          </p:cNvPicPr>
          <p:nvPr/>
        </p:nvPicPr>
        <p:blipFill>
          <a:blip r:embed="rId1"/>
          <a:stretch>
            <a:fillRect/>
          </a:stretch>
        </p:blipFill>
        <p:spPr>
          <a:xfrm>
            <a:off x="274320" y="777240"/>
            <a:ext cx="4572000" cy="3200400"/>
          </a:xfrm>
          <a:prstGeom prst="rect">
            <a:avLst/>
          </a:prstGeom>
        </p:spPr>
      </p:pic>
      <p:sp>
        <p:nvSpPr>
          <p:cNvPr id="4" name="Shape 1"/>
          <p:cNvSpPr/>
          <p:nvPr/>
        </p:nvSpPr>
        <p:spPr>
          <a:xfrm>
            <a:off x="5120640" y="777240"/>
            <a:ext cx="3749040" cy="1188720"/>
          </a:xfrm>
          <a:prstGeom prst="roundRect">
            <a:avLst>
              <a:gd name="adj" fmla="val 7692"/>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5" name="Text 2"/>
          <p:cNvSpPr/>
          <p:nvPr/>
        </p:nvSpPr>
        <p:spPr>
          <a:xfrm>
            <a:off x="5212080" y="822960"/>
            <a:ext cx="1097280" cy="731520"/>
          </a:xfrm>
          <a:prstGeom prst="rect">
            <a:avLst/>
          </a:prstGeom>
          <a:noFill/>
          <a:ln/>
        </p:spPr>
        <p:txBody>
          <a:bodyPr wrap="square" rtlCol="0" anchor="ctr"/>
          <a:lstStyle/>
          <a:p>
            <a:pPr indent="0" marL="0">
              <a:buNone/>
            </a:pPr>
            <a:r>
              <a:rPr lang="en-US" sz="3600" b="1" dirty="0">
                <a:solidFill>
                  <a:srgbClr val="16A34A"/>
                </a:solidFill>
                <a:latin typeface="Cambria" pitchFamily="34" charset="0"/>
                <a:ea typeface="Cambria" pitchFamily="34" charset="-122"/>
                <a:cs typeface="Cambria" pitchFamily="34" charset="-120"/>
              </a:rPr>
              <a:t>92%</a:t>
            </a:r>
            <a:endParaRPr lang="en-US" sz="3600" dirty="0"/>
          </a:p>
        </p:txBody>
      </p:sp>
      <p:sp>
        <p:nvSpPr>
          <p:cNvPr id="6" name="Text 3"/>
          <p:cNvSpPr/>
          <p:nvPr/>
        </p:nvSpPr>
        <p:spPr>
          <a:xfrm>
            <a:off x="6309360" y="841248"/>
            <a:ext cx="24688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Recall</a:t>
            </a:r>
            <a:endParaRPr lang="en-US" sz="1400" dirty="0"/>
          </a:p>
        </p:txBody>
      </p:sp>
      <p:sp>
        <p:nvSpPr>
          <p:cNvPr id="7" name="Text 4"/>
          <p:cNvSpPr/>
          <p:nvPr/>
        </p:nvSpPr>
        <p:spPr>
          <a:xfrm>
            <a:off x="6309360" y="1170432"/>
            <a:ext cx="2468880" cy="32004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68 of 74 anomalies caught</a:t>
            </a:r>
            <a:endParaRPr lang="en-US" sz="1000" dirty="0"/>
          </a:p>
        </p:txBody>
      </p:sp>
      <p:sp>
        <p:nvSpPr>
          <p:cNvPr id="8" name="Shape 5"/>
          <p:cNvSpPr/>
          <p:nvPr/>
        </p:nvSpPr>
        <p:spPr>
          <a:xfrm>
            <a:off x="5120640" y="2103120"/>
            <a:ext cx="3749040" cy="1188720"/>
          </a:xfrm>
          <a:prstGeom prst="roundRect">
            <a:avLst>
              <a:gd name="adj" fmla="val 7692"/>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9" name="Text 6"/>
          <p:cNvSpPr/>
          <p:nvPr/>
        </p:nvSpPr>
        <p:spPr>
          <a:xfrm>
            <a:off x="5212080" y="2148840"/>
            <a:ext cx="1097280" cy="731520"/>
          </a:xfrm>
          <a:prstGeom prst="rect">
            <a:avLst/>
          </a:prstGeom>
          <a:noFill/>
          <a:ln/>
        </p:spPr>
        <p:txBody>
          <a:bodyPr wrap="square" rtlCol="0" anchor="ctr"/>
          <a:lstStyle/>
          <a:p>
            <a:pPr indent="0" marL="0">
              <a:buNone/>
            </a:pPr>
            <a:r>
              <a:rPr lang="en-US" sz="3600" b="1" dirty="0">
                <a:solidFill>
                  <a:srgbClr val="3B82F6"/>
                </a:solidFill>
                <a:latin typeface="Cambria" pitchFamily="34" charset="0"/>
                <a:ea typeface="Cambria" pitchFamily="34" charset="-122"/>
                <a:cs typeface="Cambria" pitchFamily="34" charset="-120"/>
              </a:rPr>
              <a:t>88%</a:t>
            </a:r>
            <a:endParaRPr lang="en-US" sz="3600" dirty="0"/>
          </a:p>
        </p:txBody>
      </p:sp>
      <p:sp>
        <p:nvSpPr>
          <p:cNvPr id="10" name="Text 7"/>
          <p:cNvSpPr/>
          <p:nvPr/>
        </p:nvSpPr>
        <p:spPr>
          <a:xfrm>
            <a:off x="6309360" y="2167128"/>
            <a:ext cx="24688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Precision</a:t>
            </a:r>
            <a:endParaRPr lang="en-US" sz="1400" dirty="0"/>
          </a:p>
        </p:txBody>
      </p:sp>
      <p:sp>
        <p:nvSpPr>
          <p:cNvPr id="11" name="Text 8"/>
          <p:cNvSpPr/>
          <p:nvPr/>
        </p:nvSpPr>
        <p:spPr>
          <a:xfrm>
            <a:off x="6309360" y="2496312"/>
            <a:ext cx="2468880" cy="32004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9 false positives from 3,000 normal</a:t>
            </a:r>
            <a:endParaRPr lang="en-US" sz="1000" dirty="0"/>
          </a:p>
        </p:txBody>
      </p:sp>
      <p:sp>
        <p:nvSpPr>
          <p:cNvPr id="12" name="Shape 9"/>
          <p:cNvSpPr/>
          <p:nvPr/>
        </p:nvSpPr>
        <p:spPr>
          <a:xfrm>
            <a:off x="5120640" y="3429000"/>
            <a:ext cx="3749040" cy="1188720"/>
          </a:xfrm>
          <a:prstGeom prst="roundRect">
            <a:avLst>
              <a:gd name="adj" fmla="val 7692"/>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3" name="Text 10"/>
          <p:cNvSpPr/>
          <p:nvPr/>
        </p:nvSpPr>
        <p:spPr>
          <a:xfrm>
            <a:off x="5212080" y="3474720"/>
            <a:ext cx="1097280" cy="731520"/>
          </a:xfrm>
          <a:prstGeom prst="rect">
            <a:avLst/>
          </a:prstGeom>
          <a:noFill/>
          <a:ln/>
        </p:spPr>
        <p:txBody>
          <a:bodyPr wrap="square"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0.90</a:t>
            </a:r>
            <a:endParaRPr lang="en-US" sz="3600" dirty="0"/>
          </a:p>
        </p:txBody>
      </p:sp>
      <p:sp>
        <p:nvSpPr>
          <p:cNvPr id="14" name="Text 11"/>
          <p:cNvSpPr/>
          <p:nvPr/>
        </p:nvSpPr>
        <p:spPr>
          <a:xfrm>
            <a:off x="6309360" y="3493008"/>
            <a:ext cx="24688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F1 Score</a:t>
            </a:r>
            <a:endParaRPr lang="en-US" sz="1400" dirty="0"/>
          </a:p>
        </p:txBody>
      </p:sp>
      <p:sp>
        <p:nvSpPr>
          <p:cNvPr id="15" name="Text 12"/>
          <p:cNvSpPr/>
          <p:nvPr/>
        </p:nvSpPr>
        <p:spPr>
          <a:xfrm>
            <a:off x="6309360" y="3822192"/>
            <a:ext cx="2468880" cy="32004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Harmonic mean of precision &amp; recall</a:t>
            </a:r>
            <a:endParaRPr lang="en-US" sz="1000" dirty="0"/>
          </a:p>
        </p:txBody>
      </p:sp>
      <p:sp>
        <p:nvSpPr>
          <p:cNvPr id="16" name="Text 13"/>
          <p:cNvSpPr/>
          <p:nvPr/>
        </p:nvSpPr>
        <p:spPr>
          <a:xfrm>
            <a:off x="365760" y="4800600"/>
            <a:ext cx="8412480" cy="228600"/>
          </a:xfrm>
          <a:prstGeom prst="rect">
            <a:avLst/>
          </a:prstGeom>
          <a:noFill/>
          <a:ln/>
        </p:spPr>
        <p:txBody>
          <a:bodyPr wrap="square" rtlCol="0" anchor="ctr"/>
          <a:lstStyle/>
          <a:p>
            <a:pPr indent="0" marL="0">
              <a:buNone/>
            </a:pPr>
            <a:r>
              <a:rPr lang="en-US" sz="1000" i="1" dirty="0">
                <a:solidFill>
                  <a:srgbClr val="64748B"/>
                </a:solidFill>
                <a:latin typeface="Arial" pitchFamily="34" charset="0"/>
                <a:ea typeface="Arial" pitchFamily="34" charset="-122"/>
                <a:cs typeface="Arial" pitchFamily="34" charset="-120"/>
              </a:rPr>
              <a:t>In security, recall is the primary target: a missed attack has greater consequence than a false alarm.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Limitations &amp; Production Considerations</a:t>
            </a:r>
            <a:endParaRPr lang="en-US" sz="2600" dirty="0"/>
          </a:p>
        </p:txBody>
      </p:sp>
      <p:sp>
        <p:nvSpPr>
          <p:cNvPr id="3" name="Shape 1"/>
          <p:cNvSpPr/>
          <p:nvPr/>
        </p:nvSpPr>
        <p:spPr>
          <a:xfrm>
            <a:off x="274320" y="960120"/>
            <a:ext cx="2743200" cy="1645920"/>
          </a:xfrm>
          <a:prstGeom prst="roundRect">
            <a:avLst>
              <a:gd name="adj" fmla="val 5556"/>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4" name="Text 2"/>
          <p:cNvSpPr/>
          <p:nvPr/>
        </p:nvSpPr>
        <p:spPr>
          <a:xfrm>
            <a:off x="365760" y="103327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01</a:t>
            </a:r>
            <a:endParaRPr lang="en-US" sz="1100" dirty="0"/>
          </a:p>
        </p:txBody>
      </p:sp>
      <p:sp>
        <p:nvSpPr>
          <p:cNvPr id="5" name="Text 3"/>
          <p:cNvSpPr/>
          <p:nvPr/>
        </p:nvSpPr>
        <p:spPr>
          <a:xfrm>
            <a:off x="365760" y="1344168"/>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Synthetic Data</a:t>
            </a:r>
            <a:endParaRPr lang="en-US" sz="1100" dirty="0"/>
          </a:p>
        </p:txBody>
      </p:sp>
      <p:sp>
        <p:nvSpPr>
          <p:cNvPr id="6" name="Text 4"/>
          <p:cNvSpPr/>
          <p:nvPr/>
        </p:nvSpPr>
        <p:spPr>
          <a:xfrm>
            <a:off x="365760" y="1673352"/>
            <a:ext cx="2560320" cy="86868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Real telemetry has correlated noise, irregular patterns, and shared devices. Performance requires empirical re-evaluation on production data.</a:t>
            </a:r>
            <a:endParaRPr lang="en-US" sz="950" dirty="0"/>
          </a:p>
        </p:txBody>
      </p:sp>
      <p:sp>
        <p:nvSpPr>
          <p:cNvPr id="7" name="Shape 5"/>
          <p:cNvSpPr/>
          <p:nvPr/>
        </p:nvSpPr>
        <p:spPr>
          <a:xfrm>
            <a:off x="3200400" y="960120"/>
            <a:ext cx="2743200" cy="1645920"/>
          </a:xfrm>
          <a:prstGeom prst="roundRect">
            <a:avLst>
              <a:gd name="adj" fmla="val 5556"/>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3291840" y="103327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02</a:t>
            </a:r>
            <a:endParaRPr lang="en-US" sz="1100" dirty="0"/>
          </a:p>
        </p:txBody>
      </p:sp>
      <p:sp>
        <p:nvSpPr>
          <p:cNvPr id="9" name="Text 7"/>
          <p:cNvSpPr/>
          <p:nvPr/>
        </p:nvSpPr>
        <p:spPr>
          <a:xfrm>
            <a:off x="3291840" y="1344168"/>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Population-Level Baseline</a:t>
            </a:r>
            <a:endParaRPr lang="en-US" sz="1100" dirty="0"/>
          </a:p>
        </p:txBody>
      </p:sp>
      <p:sp>
        <p:nvSpPr>
          <p:cNvPr id="10" name="Text 8"/>
          <p:cNvSpPr/>
          <p:nvPr/>
        </p:nvSpPr>
        <p:spPr>
          <a:xfrm>
            <a:off x="3291840" y="1673352"/>
            <a:ext cx="2560320" cy="86868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A production system must maintain per-user behavioral baselines. A 3 AM login is anomalous for most users but normal for an overnight analyst.</a:t>
            </a:r>
            <a:endParaRPr lang="en-US" sz="950" dirty="0"/>
          </a:p>
        </p:txBody>
      </p:sp>
      <p:sp>
        <p:nvSpPr>
          <p:cNvPr id="11" name="Shape 9"/>
          <p:cNvSpPr/>
          <p:nvPr/>
        </p:nvSpPr>
        <p:spPr>
          <a:xfrm>
            <a:off x="6126480" y="960120"/>
            <a:ext cx="2743200" cy="1645920"/>
          </a:xfrm>
          <a:prstGeom prst="roundRect">
            <a:avLst>
              <a:gd name="adj" fmla="val 5556"/>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6217920" y="103327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03</a:t>
            </a:r>
            <a:endParaRPr lang="en-US" sz="1100" dirty="0"/>
          </a:p>
        </p:txBody>
      </p:sp>
      <p:sp>
        <p:nvSpPr>
          <p:cNvPr id="13" name="Text 11"/>
          <p:cNvSpPr/>
          <p:nvPr/>
        </p:nvSpPr>
        <p:spPr>
          <a:xfrm>
            <a:off x="6217920" y="1344168"/>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Static Contamination</a:t>
            </a:r>
            <a:endParaRPr lang="en-US" sz="1100" dirty="0"/>
          </a:p>
        </p:txBody>
      </p:sp>
      <p:sp>
        <p:nvSpPr>
          <p:cNvPr id="14" name="Text 12"/>
          <p:cNvSpPr/>
          <p:nvPr/>
        </p:nvSpPr>
        <p:spPr>
          <a:xfrm>
            <a:off x="6217920" y="1673352"/>
            <a:ext cx="2560320" cy="86868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The contamination parameter was set using known dataset properties. In production, the true anomaly rate is unknown and requires adaptive estimation.</a:t>
            </a:r>
            <a:endParaRPr lang="en-US" sz="950" dirty="0"/>
          </a:p>
        </p:txBody>
      </p:sp>
      <p:sp>
        <p:nvSpPr>
          <p:cNvPr id="15" name="Shape 13"/>
          <p:cNvSpPr/>
          <p:nvPr/>
        </p:nvSpPr>
        <p:spPr>
          <a:xfrm>
            <a:off x="1737360" y="2834640"/>
            <a:ext cx="2743200" cy="1645920"/>
          </a:xfrm>
          <a:prstGeom prst="roundRect">
            <a:avLst>
              <a:gd name="adj" fmla="val 5556"/>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1828800" y="290779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04</a:t>
            </a:r>
            <a:endParaRPr lang="en-US" sz="1100" dirty="0"/>
          </a:p>
        </p:txBody>
      </p:sp>
      <p:sp>
        <p:nvSpPr>
          <p:cNvPr id="17" name="Text 15"/>
          <p:cNvSpPr/>
          <p:nvPr/>
        </p:nvSpPr>
        <p:spPr>
          <a:xfrm>
            <a:off x="1828800" y="3218688"/>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No Temporal Modeling</a:t>
            </a:r>
            <a:endParaRPr lang="en-US" sz="1100" dirty="0"/>
          </a:p>
        </p:txBody>
      </p:sp>
      <p:sp>
        <p:nvSpPr>
          <p:cNvPr id="18" name="Text 16"/>
          <p:cNvSpPr/>
          <p:nvPr/>
        </p:nvSpPr>
        <p:spPr>
          <a:xfrm>
            <a:off x="1828800" y="3547872"/>
            <a:ext cx="2560320" cy="86868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Isolation Forest treats each event independently. Production systems incorporate session-level sequences and behavioral drift over time.</a:t>
            </a:r>
            <a:endParaRPr lang="en-US" sz="950" dirty="0"/>
          </a:p>
        </p:txBody>
      </p:sp>
      <p:sp>
        <p:nvSpPr>
          <p:cNvPr id="19" name="Shape 17"/>
          <p:cNvSpPr/>
          <p:nvPr/>
        </p:nvSpPr>
        <p:spPr>
          <a:xfrm>
            <a:off x="4663440" y="2834640"/>
            <a:ext cx="2743200" cy="1645920"/>
          </a:xfrm>
          <a:prstGeom prst="roundRect">
            <a:avLst>
              <a:gd name="adj" fmla="val 5556"/>
            </a:avLst>
          </a:prstGeom>
          <a:solidFill>
            <a:srgbClr val="1E3A5F"/>
          </a:solidFill>
          <a:ln w="6350">
            <a:solidFill>
              <a:srgbClr val="CADCFC"/>
            </a:solidFill>
            <a:prstDash val="solid"/>
          </a:ln>
          <a:effectLst>
            <a:outerShdw sx="100000" sy="100000" kx="0" ky="0" algn="bl" rotWithShape="0" blurRad="101600" dist="38100" dir="2700000">
              <a:srgbClr val="000000">
                <a:alpha val="18000"/>
              </a:srgbClr>
            </a:outerShdw>
          </a:effectLst>
        </p:spPr>
      </p:sp>
      <p:sp>
        <p:nvSpPr>
          <p:cNvPr id="20" name="Text 18"/>
          <p:cNvSpPr/>
          <p:nvPr/>
        </p:nvSpPr>
        <p:spPr>
          <a:xfrm>
            <a:off x="4754880" y="2907792"/>
            <a:ext cx="457200" cy="320040"/>
          </a:xfrm>
          <a:prstGeom prst="rect">
            <a:avLst/>
          </a:prstGeom>
          <a:noFill/>
          <a:ln/>
        </p:spPr>
        <p:txBody>
          <a:bodyPr wrap="square" rtlCol="0" anchor="ctr"/>
          <a:lstStyle/>
          <a:p>
            <a:pPr indent="0" marL="0">
              <a:buNone/>
            </a:pPr>
            <a:r>
              <a:rPr lang="en-US" sz="1100" b="1" dirty="0">
                <a:solidFill>
                  <a:srgbClr val="94A3B8"/>
                </a:solidFill>
                <a:latin typeface="Courier New" pitchFamily="34" charset="0"/>
                <a:ea typeface="Courier New" pitchFamily="34" charset="-122"/>
                <a:cs typeface="Courier New" pitchFamily="34" charset="-120"/>
              </a:rPr>
              <a:t>05</a:t>
            </a:r>
            <a:endParaRPr lang="en-US" sz="1100" dirty="0"/>
          </a:p>
        </p:txBody>
      </p:sp>
      <p:sp>
        <p:nvSpPr>
          <p:cNvPr id="21" name="Text 19"/>
          <p:cNvSpPr/>
          <p:nvPr/>
        </p:nvSpPr>
        <p:spPr>
          <a:xfrm>
            <a:off x="4754880" y="3218688"/>
            <a:ext cx="2560320" cy="320040"/>
          </a:xfrm>
          <a:prstGeom prst="rect">
            <a:avLst/>
          </a:prstGeom>
          <a:noFill/>
          <a:ln/>
        </p:spPr>
        <p:txBody>
          <a:bodyPr wrap="square" rtlCol="0" anchor="ctr"/>
          <a:lstStyle/>
          <a:p>
            <a:pPr indent="0" marL="0">
              <a:buNone/>
            </a:pPr>
            <a:r>
              <a:rPr lang="en-US" sz="1100" b="1" dirty="0">
                <a:solidFill>
                  <a:srgbClr val="CADCFC"/>
                </a:solidFill>
                <a:latin typeface="Arial" pitchFamily="34" charset="0"/>
                <a:ea typeface="Arial" pitchFamily="34" charset="-122"/>
                <a:cs typeface="Arial" pitchFamily="34" charset="-120"/>
              </a:rPr>
              <a:t>Feature Set Scope</a:t>
            </a:r>
            <a:endParaRPr lang="en-US" sz="1100" dirty="0"/>
          </a:p>
        </p:txBody>
      </p:sp>
      <p:sp>
        <p:nvSpPr>
          <p:cNvPr id="22" name="Text 20"/>
          <p:cNvSpPr/>
          <p:nvPr/>
        </p:nvSpPr>
        <p:spPr>
          <a:xfrm>
            <a:off x="4754880" y="3547872"/>
            <a:ext cx="2560320" cy="86868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Six features modeled here are a subset. Production telemetry includes device fingerprinting, network characteristics, and IdP risk signals.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Relevance to Identity Security &amp; ZTNA</a:t>
            </a:r>
            <a:endParaRPr lang="en-US" sz="2600" dirty="0"/>
          </a:p>
        </p:txBody>
      </p:sp>
      <p:sp>
        <p:nvSpPr>
          <p:cNvPr id="3" name="Shape 1"/>
          <p:cNvSpPr/>
          <p:nvPr/>
        </p:nvSpPr>
        <p:spPr>
          <a:xfrm>
            <a:off x="274320" y="914400"/>
            <a:ext cx="8595360" cy="1280160"/>
          </a:xfrm>
          <a:prstGeom prst="roundRect">
            <a:avLst>
              <a:gd name="adj" fmla="val 7143"/>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4" name="Text 2"/>
          <p:cNvSpPr/>
          <p:nvPr/>
        </p:nvSpPr>
        <p:spPr>
          <a:xfrm>
            <a:off x="457200" y="969264"/>
            <a:ext cx="8229600" cy="320040"/>
          </a:xfrm>
          <a:prstGeom prst="rect">
            <a:avLst/>
          </a:prstGeom>
          <a:noFill/>
          <a:ln/>
        </p:spPr>
        <p:txBody>
          <a:bodyPr wrap="square" rtlCol="0" anchor="ctr"/>
          <a:lstStyle/>
          <a:p>
            <a:pPr indent="0" marL="0">
              <a:buNone/>
            </a:pPr>
            <a:r>
              <a:rPr lang="en-US" sz="1200" b="1" dirty="0">
                <a:solidFill>
                  <a:srgbClr val="CADCFC"/>
                </a:solidFill>
                <a:latin typeface="Arial" pitchFamily="34" charset="0"/>
                <a:ea typeface="Arial" pitchFamily="34" charset="-122"/>
                <a:cs typeface="Arial" pitchFamily="34" charset="-120"/>
              </a:rPr>
              <a:t>Prior Work: HCL Anomaly Detection Pipeline</a:t>
            </a:r>
            <a:endParaRPr lang="en-US" sz="1200" dirty="0"/>
          </a:p>
        </p:txBody>
      </p:sp>
      <p:sp>
        <p:nvSpPr>
          <p:cNvPr id="5" name="Text 3"/>
          <p:cNvSpPr/>
          <p:nvPr/>
        </p:nvSpPr>
        <p:spPr>
          <a:xfrm>
            <a:off x="457200" y="1298448"/>
            <a:ext cx="8229600" cy="8229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At HCL I built and maintained the data pipeline feeding an anomaly detection and remediation system — impossible travel, typing speed, and click-through behavioral signals — integrating SharePoint and SQL Server sources into BigFix via API. I owned the PMO that was the intake point for all signal data. This project extends that experience into a fully instrumented ML pipeline.</a:t>
            </a:r>
            <a:endParaRPr lang="en-US" sz="1050" dirty="0"/>
          </a:p>
        </p:txBody>
      </p:sp>
      <p:sp>
        <p:nvSpPr>
          <p:cNvPr id="6" name="Shape 4"/>
          <p:cNvSpPr/>
          <p:nvPr/>
        </p:nvSpPr>
        <p:spPr>
          <a:xfrm>
            <a:off x="274320" y="2331720"/>
            <a:ext cx="8595360" cy="1280160"/>
          </a:xfrm>
          <a:prstGeom prst="roundRect">
            <a:avLst>
              <a:gd name="adj" fmla="val 7143"/>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457200" y="2386584"/>
            <a:ext cx="8229600" cy="320040"/>
          </a:xfrm>
          <a:prstGeom prst="rect">
            <a:avLst/>
          </a:prstGeom>
          <a:noFill/>
          <a:ln/>
        </p:spPr>
        <p:txBody>
          <a:bodyPr wrap="square" rtlCol="0" anchor="ctr"/>
          <a:lstStyle/>
          <a:p>
            <a:pPr indent="0" marL="0">
              <a:buNone/>
            </a:pPr>
            <a:r>
              <a:rPr lang="en-US" sz="1200" b="1" dirty="0">
                <a:solidFill>
                  <a:srgbClr val="CADCFC"/>
                </a:solidFill>
                <a:latin typeface="Arial" pitchFamily="34" charset="0"/>
                <a:ea typeface="Arial" pitchFamily="34" charset="-122"/>
                <a:cs typeface="Arial" pitchFamily="34" charset="-120"/>
              </a:rPr>
              <a:t>T1078 Connection</a:t>
            </a:r>
            <a:endParaRPr lang="en-US" sz="1200" dirty="0"/>
          </a:p>
        </p:txBody>
      </p:sp>
      <p:sp>
        <p:nvSpPr>
          <p:cNvPr id="8" name="Text 6"/>
          <p:cNvSpPr/>
          <p:nvPr/>
        </p:nvSpPr>
        <p:spPr>
          <a:xfrm>
            <a:off x="457200" y="2715768"/>
            <a:ext cx="8229600" cy="8229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The four detection signals modeled here map directly to MITRE ATT&amp;CK T1078 detection indicators: impossible travel (geolocation anomaly), typing speed (behavioral biometric), click-through rate (session behavioral pattern), and session timing (temporal baseline deviation). These are the same signals a ZTNA risk engine evaluates for continuous access decisions.</a:t>
            </a:r>
            <a:endParaRPr lang="en-US" sz="1050" dirty="0"/>
          </a:p>
        </p:txBody>
      </p:sp>
      <p:sp>
        <p:nvSpPr>
          <p:cNvPr id="9" name="Shape 7"/>
          <p:cNvSpPr/>
          <p:nvPr/>
        </p:nvSpPr>
        <p:spPr>
          <a:xfrm>
            <a:off x="274320" y="3749040"/>
            <a:ext cx="8595360" cy="1280160"/>
          </a:xfrm>
          <a:prstGeom prst="roundRect">
            <a:avLst>
              <a:gd name="adj" fmla="val 7143"/>
            </a:avLst>
          </a:prstGeom>
          <a:solidFill>
            <a:srgbClr val="1E2761"/>
          </a:solidFill>
          <a:ln w="12700">
            <a:solidFill>
              <a:srgbClr val="1E2761"/>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457200" y="3803904"/>
            <a:ext cx="8229600" cy="320040"/>
          </a:xfrm>
          <a:prstGeom prst="rect">
            <a:avLst/>
          </a:prstGeom>
          <a:noFill/>
          <a:ln/>
        </p:spPr>
        <p:txBody>
          <a:bodyPr wrap="square" rtlCol="0" anchor="ctr"/>
          <a:lstStyle/>
          <a:p>
            <a:pPr indent="0" marL="0">
              <a:buNone/>
            </a:pPr>
            <a:r>
              <a:rPr lang="en-US" sz="1200" b="1" dirty="0">
                <a:solidFill>
                  <a:srgbClr val="CADCFC"/>
                </a:solidFill>
                <a:latin typeface="Arial" pitchFamily="34" charset="0"/>
                <a:ea typeface="Arial" pitchFamily="34" charset="-122"/>
                <a:cs typeface="Arial" pitchFamily="34" charset="-120"/>
              </a:rPr>
              <a:t>Data Engineering Foundation</a:t>
            </a:r>
            <a:endParaRPr lang="en-US" sz="1200" dirty="0"/>
          </a:p>
        </p:txBody>
      </p:sp>
      <p:sp>
        <p:nvSpPr>
          <p:cNvPr id="11" name="Text 9"/>
          <p:cNvSpPr/>
          <p:nvPr/>
        </p:nvSpPr>
        <p:spPr>
          <a:xfrm>
            <a:off x="457200" y="4133088"/>
            <a:ext cx="8229600" cy="8229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The detection pipeline requires reliable, clean data. Feature engineering (velocity derivation, sequential shift operations, NaN imputation strategy) reflects the data engineering discipline that underpins any production ML system. The pipeline architecture — ingestion, feature engineering, model inference, output persistence — mirrors the structure of a production detection engine.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2011680"/>
            <a:ext cx="9144000" cy="1097280"/>
          </a:xfrm>
          <a:prstGeom prst="rect">
            <a:avLst/>
          </a:prstGeom>
          <a:solidFill>
            <a:srgbClr val="1E3A5F"/>
          </a:solidFill>
          <a:ln w="12700">
            <a:solidFill>
              <a:srgbClr val="1E3A5F"/>
            </a:solidFill>
            <a:prstDash val="solid"/>
          </a:ln>
        </p:spPr>
      </p:sp>
      <p:sp>
        <p:nvSpPr>
          <p:cNvPr id="3" name="Text 1"/>
          <p:cNvSpPr/>
          <p:nvPr/>
        </p:nvSpPr>
        <p:spPr>
          <a:xfrm>
            <a:off x="457200" y="457200"/>
            <a:ext cx="8229600" cy="82296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92% Recall. Zero Labeled Training Data.</a:t>
            </a:r>
            <a:endParaRPr lang="en-US" sz="3600" dirty="0"/>
          </a:p>
        </p:txBody>
      </p:sp>
      <p:sp>
        <p:nvSpPr>
          <p:cNvPr id="4" name="Text 2"/>
          <p:cNvSpPr/>
          <p:nvPr/>
        </p:nvSpPr>
        <p:spPr>
          <a:xfrm>
            <a:off x="457200" y="1325880"/>
            <a:ext cx="8229600" cy="457200"/>
          </a:xfrm>
          <a:prstGeom prst="rect">
            <a:avLst/>
          </a:prstGeom>
          <a:noFill/>
          <a:ln/>
        </p:spPr>
        <p:txBody>
          <a:bodyPr wrap="square" rtlCol="0" anchor="ctr"/>
          <a:lstStyle/>
          <a:p>
            <a:pPr algn="ctr" indent="0" marL="0">
              <a:buNone/>
            </a:pPr>
            <a:r>
              <a:rPr lang="en-US" sz="1800" i="1" dirty="0">
                <a:solidFill>
                  <a:srgbClr val="CADCFC"/>
                </a:solidFill>
                <a:latin typeface="Arial" pitchFamily="34" charset="0"/>
                <a:ea typeface="Arial" pitchFamily="34" charset="-122"/>
                <a:cs typeface="Arial" pitchFamily="34" charset="-120"/>
              </a:rPr>
              <a:t>Unsupervised behavioral anomaly detection for identity-based threats.</a:t>
            </a:r>
            <a:endParaRPr lang="en-US" sz="1800" dirty="0"/>
          </a:p>
        </p:txBody>
      </p:sp>
      <p:sp>
        <p:nvSpPr>
          <p:cNvPr id="5" name="Text 3"/>
          <p:cNvSpPr/>
          <p:nvPr/>
        </p:nvSpPr>
        <p:spPr>
          <a:xfrm>
            <a:off x="457200" y="2103120"/>
            <a:ext cx="8229600" cy="914400"/>
          </a:xfrm>
          <a:prstGeom prst="rect">
            <a:avLst/>
          </a:prstGeom>
          <a:noFill/>
          <a:ln/>
        </p:spPr>
        <p:txBody>
          <a:bodyPr wrap="square" rtlCol="0" anchor="ctr"/>
          <a:lstStyle/>
          <a:p>
            <a:pPr algn="ctr" indent="0" marL="0">
              <a:buNone/>
            </a:pPr>
            <a:r>
              <a:rPr lang="en-US" sz="1300" b="1" dirty="0">
                <a:solidFill>
                  <a:srgbClr val="CADCFC"/>
                </a:solidFill>
                <a:latin typeface="Arial" pitchFamily="34" charset="0"/>
                <a:ea typeface="Arial" pitchFamily="34" charset="-122"/>
                <a:cs typeface="Arial" pitchFamily="34" charset="-120"/>
              </a:rPr>
              <a:t>Benjamin Brady</a:t>
            </a:r>
            <a:endParaRPr lang="en-US" sz="1300" dirty="0"/>
          </a:p>
          <a:p>
            <a:pPr algn="ctr" indent="0" marL="0">
              <a:buNone/>
            </a:pPr>
            <a:r>
              <a:rPr lang="en-US" sz="1300" dirty="0">
                <a:solidFill>
                  <a:srgbClr val="CADCFC"/>
                </a:solidFill>
                <a:latin typeface="Arial" pitchFamily="34" charset="0"/>
                <a:ea typeface="Arial" pitchFamily="34" charset="-122"/>
                <a:cs typeface="Arial" pitchFamily="34" charset="-120"/>
              </a:rPr>
              <a:t>github.com/BenBrady1/behavioral-anomaly-detection</a:t>
            </a:r>
            <a:endParaRPr lang="en-US" sz="1300" dirty="0"/>
          </a:p>
          <a:p>
            <a:pPr algn="ctr" indent="0" marL="0">
              <a:buNone/>
            </a:pPr>
            <a:r>
              <a:rPr lang="en-US" sz="1300" dirty="0">
                <a:solidFill>
                  <a:srgbClr val="CADCFC"/>
                </a:solidFill>
                <a:latin typeface="Arial" pitchFamily="34" charset="0"/>
                <a:ea typeface="Arial" pitchFamily="34" charset="-122"/>
                <a:cs typeface="Arial" pitchFamily="34" charset="-120"/>
              </a:rPr>
              <a:t>Ben.Brady1989@gmail.com</a:t>
            </a:r>
            <a:endParaRPr lang="en-US" sz="1300" dirty="0"/>
          </a:p>
        </p:txBody>
      </p:sp>
      <p:sp>
        <p:nvSpPr>
          <p:cNvPr id="6" name="Text 4"/>
          <p:cNvSpPr/>
          <p:nvPr/>
        </p:nvSpPr>
        <p:spPr>
          <a:xfrm>
            <a:off x="457200" y="3200400"/>
            <a:ext cx="8229600" cy="365760"/>
          </a:xfrm>
          <a:prstGeom prst="rect">
            <a:avLst/>
          </a:prstGeom>
          <a:noFill/>
          <a:ln/>
        </p:spPr>
        <p:txBody>
          <a:bodyPr wrap="square" rtlCol="0" anchor="ctr"/>
          <a:lstStyle/>
          <a:p>
            <a:pPr algn="ctr" indent="0" marL="0">
              <a:buNone/>
            </a:pPr>
            <a:r>
              <a:rPr lang="en-US" sz="1000" b="1" i="1" dirty="0">
                <a:solidFill>
                  <a:srgbClr val="94A3B8"/>
                </a:solidFill>
                <a:latin typeface="Arial" pitchFamily="34" charset="0"/>
                <a:ea typeface="Arial" pitchFamily="34" charset="-122"/>
                <a:cs typeface="Arial" pitchFamily="34" charset="-120"/>
              </a:rPr>
              <a:t>References: </a:t>
            </a:r>
            <a:pPr algn="ctr" indent="0" marL="0">
              <a:buNone/>
            </a:pPr>
            <a:r>
              <a:rPr lang="en-US" sz="1000" i="1" dirty="0">
                <a:solidFill>
                  <a:srgbClr val="94A3B8"/>
                </a:solidFill>
                <a:latin typeface="Arial" pitchFamily="34" charset="0"/>
                <a:ea typeface="Arial" pitchFamily="34" charset="-122"/>
                <a:cs typeface="Arial" pitchFamily="34" charset="-120"/>
              </a:rPr>
              <a:t>Liu et al. (2008) IEEE · MITRE ATT&amp;CK T1078 · NIST SP 800-207 · Chandola et al. (2009) ACM</a:t>
            </a:r>
            <a:endParaRPr lang="en-US" sz="1000" dirty="0"/>
          </a:p>
        </p:txBody>
      </p:sp>
      <p:sp>
        <p:nvSpPr>
          <p:cNvPr id="7" name="Text 5"/>
          <p:cNvSpPr/>
          <p:nvPr/>
        </p:nvSpPr>
        <p:spPr>
          <a:xfrm>
            <a:off x="457200" y="4480560"/>
            <a:ext cx="8229600" cy="27432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Python · scikit-learn · pandas · matplotlib · seaborn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Anomaly Detection — Identity Threat Detection</dc:title>
  <dc:subject>PptxGenJS Presentation</dc:subject>
  <dc:creator>Benjamin Brady</dc:creator>
  <cp:lastModifiedBy>Benjamin Brady</cp:lastModifiedBy>
  <cp:revision>1</cp:revision>
  <dcterms:created xsi:type="dcterms:W3CDTF">2026-06-26T21:45:16Z</dcterms:created>
  <dcterms:modified xsi:type="dcterms:W3CDTF">2026-06-26T21:45:16Z</dcterms:modified>
</cp:coreProperties>
</file>
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project implements a behavioral anomaly detection pipeline targeting credential compromise — T1078 and T1041. Two unsupervised models, six detection signals, composite risk scoring, and ATT&amp;CK taxonomy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T1078 succeeds because the attacker looks exactly like the real user. Zero Trust addresses this at the network layer — this project addresses it at the behavioral analytics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signals across behavioral biometric, geospatial, temporal, resource access, and data transfer domains. Signals 5 and 6 are the new additions — privilege escalation and data exfiltration — extending coverage from T1078 to T1041.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modular structure means each file has one job. The connection string is a variable — in production you swap the CSV path for a warehouse connection and the rest of the pipeline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truth labels mean we know exactly which events are anomalous. This lets us calculate precision and recall on two unsupervised models — which is what makes this a rigorous evaluation rather than just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wins here because it doesn't assume a distribution shape. One-Class SVM's RBF boundary doesn't fit the multimodal feature space as well. In production, you'd run both and use ensemble voting.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panels — one per anomaly type. The behavioral anomalies at low velocity (panels B, C, D, E, F) prove the model catches credential abuse even when the attacker masks their location. That's the key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composite score aggregates both models into one actionable number. Impossible travel scores highest and tightest — most confidently detected. Privilege escalation shows the widest spread — subtler signal, more model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ATT&amp;CK taxonomy in the output means this pipeline plugs directly into any SOC or SIEM that uses ATT&amp;CK for detection coverage tracking. T1078 and T1041 together represent the full credential-compromise-to-exfiltration kill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limitations section is intentional. Knowing what your model doesn't do is as important as knowing what it does. A production deployment would address all six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97% recall with no labeled attack data, across six detection signals and two models. The composite risk score and ATT&amp;CK taxonomy make this pipeline pluggable into any enterprise detection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457200"/>
            <a:ext cx="8229600" cy="100584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Behavioral Anomaly Detection</a:t>
            </a:r>
            <a:endParaRPr lang="en-US" sz="4000" dirty="0"/>
          </a:p>
        </p:txBody>
      </p:sp>
      <p:sp>
        <p:nvSpPr>
          <p:cNvPr id="3" name="Text 1"/>
          <p:cNvSpPr/>
          <p:nvPr/>
        </p:nvSpPr>
        <p:spPr>
          <a:xfrm>
            <a:off x="457200" y="1417320"/>
            <a:ext cx="8229600" cy="640080"/>
          </a:xfrm>
          <a:prstGeom prst="rect">
            <a:avLst/>
          </a:prstGeom>
          <a:noFill/>
          <a:ln/>
        </p:spPr>
        <p:txBody>
          <a:bodyPr wrap="square" rtlCol="0" anchor="ctr"/>
          <a:lstStyle/>
          <a:p>
            <a:pPr algn="ctr" indent="0" marL="0">
              <a:buNone/>
            </a:pPr>
            <a:r>
              <a:rPr lang="en-US" sz="2800" dirty="0">
                <a:solidFill>
                  <a:srgbClr val="CADCFC"/>
                </a:solidFill>
                <a:latin typeface="Cambria" pitchFamily="34" charset="0"/>
                <a:ea typeface="Cambria" pitchFamily="34" charset="-122"/>
                <a:cs typeface="Cambria" pitchFamily="34" charset="-120"/>
              </a:rPr>
              <a:t>for Identity Threat Detection</a:t>
            </a:r>
            <a:endParaRPr lang="en-US" sz="2800" dirty="0"/>
          </a:p>
        </p:txBody>
      </p:sp>
      <p:sp>
        <p:nvSpPr>
          <p:cNvPr id="4" name="Text 2"/>
          <p:cNvSpPr/>
          <p:nvPr/>
        </p:nvSpPr>
        <p:spPr>
          <a:xfrm>
            <a:off x="457200" y="2103120"/>
            <a:ext cx="8229600" cy="457200"/>
          </a:xfrm>
          <a:prstGeom prst="rect">
            <a:avLst/>
          </a:prstGeom>
          <a:noFill/>
          <a:ln/>
        </p:spPr>
        <p:txBody>
          <a:bodyPr wrap="square" rtlCol="0" anchor="ctr"/>
          <a:lstStyle/>
          <a:p>
            <a:pPr algn="ctr" indent="0" marL="0">
              <a:buNone/>
            </a:pPr>
            <a:r>
              <a:rPr lang="en-US" sz="1500" i="1" dirty="0">
                <a:solidFill>
                  <a:srgbClr val="94A3B8"/>
                </a:solidFill>
                <a:latin typeface="Arial" pitchFamily="34" charset="0"/>
                <a:ea typeface="Arial" pitchFamily="34" charset="-122"/>
                <a:cs typeface="Arial" pitchFamily="34" charset="-120"/>
              </a:rPr>
              <a:t>A Multi-Signal, Multi-Model Approach to MITRE ATT&amp;CK T1078 &amp; T1041</a:t>
            </a:r>
            <a:endParaRPr lang="en-US" sz="1500" dirty="0"/>
          </a:p>
        </p:txBody>
      </p:sp>
      <p:sp>
        <p:nvSpPr>
          <p:cNvPr id="5" name="Shape 3"/>
          <p:cNvSpPr/>
          <p:nvPr/>
        </p:nvSpPr>
        <p:spPr>
          <a:xfrm>
            <a:off x="0" y="3200400"/>
            <a:ext cx="9144000" cy="1943100"/>
          </a:xfrm>
          <a:prstGeom prst="rect">
            <a:avLst/>
          </a:prstGeom>
          <a:solidFill>
            <a:srgbClr val="1E3A5F"/>
          </a:solidFill>
          <a:ln w="12700">
            <a:solidFill>
              <a:srgbClr val="1E3A5F"/>
            </a:solidFill>
            <a:prstDash val="solid"/>
          </a:ln>
        </p:spPr>
      </p:sp>
      <p:sp>
        <p:nvSpPr>
          <p:cNvPr id="6" name="Text 4"/>
          <p:cNvSpPr/>
          <p:nvPr/>
        </p:nvSpPr>
        <p:spPr>
          <a:xfrm>
            <a:off x="457200" y="3291840"/>
            <a:ext cx="8229600" cy="1645920"/>
          </a:xfrm>
          <a:prstGeom prst="rect">
            <a:avLst/>
          </a:prstGeom>
          <a:noFill/>
          <a:ln/>
        </p:spPr>
        <p:txBody>
          <a:bodyPr wrap="square" rtlCol="0" anchor="ctr"/>
          <a:lstStyle/>
          <a:p>
            <a:pPr algn="ctr" indent="0" marL="0">
              <a:buNone/>
            </a:pPr>
            <a:r>
              <a:rPr lang="en-US" sz="1400" b="1" dirty="0">
                <a:solidFill>
                  <a:srgbClr val="CADCFC"/>
                </a:solidFill>
                <a:latin typeface="Arial" pitchFamily="34" charset="0"/>
                <a:ea typeface="Arial" pitchFamily="34" charset="-122"/>
                <a:cs typeface="Arial" pitchFamily="34" charset="-120"/>
              </a:rPr>
              <a:t>Benjamin Brady</a:t>
            </a:r>
            <a:endParaRPr lang="en-US" sz="1400" dirty="0"/>
          </a:p>
          <a:p>
            <a:pPr algn="ctr" indent="0" marL="0">
              <a:buNone/>
            </a:pPr>
            <a:r>
              <a:rPr lang="en-US" sz="1400" dirty="0">
                <a:solidFill>
                  <a:srgbClr val="CADCFC"/>
                </a:solidFill>
                <a:latin typeface="Arial" pitchFamily="34" charset="0"/>
                <a:ea typeface="Arial" pitchFamily="34" charset="-122"/>
                <a:cs typeface="Arial" pitchFamily="34" charset="-120"/>
              </a:rPr>
              <a:t>June 2026</a:t>
            </a:r>
            <a:endParaRPr lang="en-US" sz="1400" dirty="0"/>
          </a:p>
          <a:p>
            <a:pPr algn="ctr" indent="0" marL="0">
              <a:buNone/>
            </a:pPr>
            <a:r>
              <a:rPr lang="en-US" sz="1400" i="1" dirty="0">
                <a:solidFill>
                  <a:srgbClr val="CADCFC"/>
                </a:solidFill>
                <a:latin typeface="Arial" pitchFamily="34" charset="0"/>
                <a:ea typeface="Arial" pitchFamily="34" charset="-122"/>
                <a:cs typeface="Arial" pitchFamily="34" charset="-120"/>
              </a:rPr>
              <a:t>Python · scikit-learn · pandas · Isolation Forest · One-Class SVM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73152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The Problem: Credential Compromise is Invisible to Perimeter Defenses</a:t>
            </a:r>
            <a:endParaRPr lang="en-US" sz="2200" dirty="0"/>
          </a:p>
        </p:txBody>
      </p:sp>
      <p:sp>
        <p:nvSpPr>
          <p:cNvPr id="3" name="Shape 1"/>
          <p:cNvSpPr/>
          <p:nvPr/>
        </p:nvSpPr>
        <p:spPr>
          <a:xfrm>
            <a:off x="274320" y="1005840"/>
            <a:ext cx="2834640" cy="3840480"/>
          </a:xfrm>
          <a:prstGeom prst="roundRect">
            <a:avLst>
              <a:gd name="adj" fmla="val 3226"/>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4" name="Text 2"/>
          <p:cNvSpPr/>
          <p:nvPr/>
        </p:nvSpPr>
        <p:spPr>
          <a:xfrm>
            <a:off x="411480" y="1097280"/>
            <a:ext cx="2560320" cy="411480"/>
          </a:xfrm>
          <a:prstGeom prst="rect">
            <a:avLst/>
          </a:prstGeom>
          <a:noFill/>
          <a:ln/>
        </p:spPr>
        <p:txBody>
          <a:bodyPr wrap="square" rtlCol="0" anchor="ctr"/>
          <a:lstStyle/>
          <a:p>
            <a:pPr indent="0" marL="0">
              <a:buNone/>
            </a:pPr>
            <a:r>
              <a:rPr lang="en-US" sz="1200" b="1" dirty="0">
                <a:solidFill>
                  <a:srgbClr val="CADCFC"/>
                </a:solidFill>
                <a:latin typeface="Arial" pitchFamily="34" charset="0"/>
                <a:ea typeface="Arial" pitchFamily="34" charset="-122"/>
                <a:cs typeface="Arial" pitchFamily="34" charset="-120"/>
              </a:rPr>
              <a:t>MITRE ATT&amp;CK T1078</a:t>
            </a:r>
            <a:endParaRPr lang="en-US" sz="1200" dirty="0"/>
          </a:p>
        </p:txBody>
      </p:sp>
      <p:sp>
        <p:nvSpPr>
          <p:cNvPr id="5" name="Text 3"/>
          <p:cNvSpPr/>
          <p:nvPr/>
        </p:nvSpPr>
        <p:spPr>
          <a:xfrm>
            <a:off x="411480" y="1554480"/>
            <a:ext cx="2560320" cy="31089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Valid Accounts — adversaries authenticate as legitimate users. Traditional controls see a valid login. The attack is invisible by definition.</a:t>
            </a:r>
            <a:endParaRPr lang="en-US" sz="1100" dirty="0"/>
          </a:p>
        </p:txBody>
      </p:sp>
      <p:sp>
        <p:nvSpPr>
          <p:cNvPr id="6" name="Shape 4"/>
          <p:cNvSpPr/>
          <p:nvPr/>
        </p:nvSpPr>
        <p:spPr>
          <a:xfrm>
            <a:off x="3246120" y="1005840"/>
            <a:ext cx="2834640" cy="3840480"/>
          </a:xfrm>
          <a:prstGeom prst="roundRect">
            <a:avLst>
              <a:gd name="adj" fmla="val 3226"/>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3383280" y="1097280"/>
            <a:ext cx="2560320" cy="411480"/>
          </a:xfrm>
          <a:prstGeom prst="rect">
            <a:avLst/>
          </a:prstGeom>
          <a:noFill/>
          <a:ln/>
        </p:spPr>
        <p:txBody>
          <a:bodyPr wrap="square" rtlCol="0" anchor="ctr"/>
          <a:lstStyle/>
          <a:p>
            <a:pPr indent="0" marL="0">
              <a:buNone/>
            </a:pPr>
            <a:r>
              <a:rPr lang="en-US" sz="1200" b="1" dirty="0">
                <a:solidFill>
                  <a:srgbClr val="CADCFC"/>
                </a:solidFill>
                <a:latin typeface="Arial" pitchFamily="34" charset="0"/>
                <a:ea typeface="Arial" pitchFamily="34" charset="-122"/>
                <a:cs typeface="Arial" pitchFamily="34" charset="-120"/>
              </a:rPr>
              <a:t>Zero Trust Gap</a:t>
            </a:r>
            <a:endParaRPr lang="en-US" sz="1200" dirty="0"/>
          </a:p>
        </p:txBody>
      </p:sp>
      <p:sp>
        <p:nvSpPr>
          <p:cNvPr id="8" name="Text 6"/>
          <p:cNvSpPr/>
          <p:nvPr/>
        </p:nvSpPr>
        <p:spPr>
          <a:xfrm>
            <a:off x="3383280" y="1554480"/>
            <a:ext cx="2560320" cy="31089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Perimeter security trusts anything inside the network. A stolen VPN credential gives full internal access. Location is not identity.</a:t>
            </a:r>
            <a:endParaRPr lang="en-US" sz="1100" dirty="0"/>
          </a:p>
        </p:txBody>
      </p:sp>
      <p:sp>
        <p:nvSpPr>
          <p:cNvPr id="9" name="Shape 7"/>
          <p:cNvSpPr/>
          <p:nvPr/>
        </p:nvSpPr>
        <p:spPr>
          <a:xfrm>
            <a:off x="6217920" y="1005840"/>
            <a:ext cx="2834640" cy="3840480"/>
          </a:xfrm>
          <a:prstGeom prst="roundRect">
            <a:avLst>
              <a:gd name="adj" fmla="val 3226"/>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10" name="Text 8"/>
          <p:cNvSpPr/>
          <p:nvPr/>
        </p:nvSpPr>
        <p:spPr>
          <a:xfrm>
            <a:off x="6355080" y="1097280"/>
            <a:ext cx="2560320" cy="411480"/>
          </a:xfrm>
          <a:prstGeom prst="rect">
            <a:avLst/>
          </a:prstGeom>
          <a:noFill/>
          <a:ln/>
        </p:spPr>
        <p:txBody>
          <a:bodyPr wrap="square" rtlCol="0" anchor="ctr"/>
          <a:lstStyle/>
          <a:p>
            <a:pPr indent="0" marL="0">
              <a:buNone/>
            </a:pPr>
            <a:r>
              <a:rPr lang="en-US" sz="1200" b="1" dirty="0">
                <a:solidFill>
                  <a:srgbClr val="CADCFC"/>
                </a:solidFill>
                <a:latin typeface="Arial" pitchFamily="34" charset="0"/>
                <a:ea typeface="Arial" pitchFamily="34" charset="-122"/>
                <a:cs typeface="Arial" pitchFamily="34" charset="-120"/>
              </a:rPr>
              <a:t>Why Unsupervised ML</a:t>
            </a:r>
            <a:endParaRPr lang="en-US" sz="1200" dirty="0"/>
          </a:p>
        </p:txBody>
      </p:sp>
      <p:sp>
        <p:nvSpPr>
          <p:cNvPr id="11" name="Text 9"/>
          <p:cNvSpPr/>
          <p:nvPr/>
        </p:nvSpPr>
        <p:spPr>
          <a:xfrm>
            <a:off x="6355080" y="1554480"/>
            <a:ext cx="2560320" cy="31089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You cannot label every attack variant in advance. Model what normal looks like — and flag everything that isn't. No labeled data required.</a:t>
            </a:r>
            <a:endParaRPr lang="en-US" sz="1100" dirty="0"/>
          </a:p>
        </p:txBody>
      </p:sp>
      <p:sp>
        <p:nvSpPr>
          <p:cNvPr id="12" name="Text 10"/>
          <p:cNvSpPr/>
          <p:nvPr/>
        </p:nvSpPr>
        <p:spPr>
          <a:xfrm>
            <a:off x="365760" y="4937760"/>
            <a:ext cx="8229600" cy="182880"/>
          </a:xfrm>
          <a:prstGeom prst="rect">
            <a:avLst/>
          </a:prstGeom>
          <a:noFill/>
          <a:ln/>
        </p:spPr>
        <p:txBody>
          <a:bodyPr wrap="square" rtlCol="0" anchor="ctr"/>
          <a:lstStyle/>
          <a:p>
            <a:pPr indent="0" marL="0">
              <a:buNone/>
            </a:pPr>
            <a:r>
              <a:rPr lang="en-US" sz="900" i="1" dirty="0">
                <a:solidFill>
                  <a:srgbClr val="94A3B8"/>
                </a:solidFill>
                <a:latin typeface="Arial" pitchFamily="34" charset="0"/>
                <a:ea typeface="Arial" pitchFamily="34" charset="-122"/>
                <a:cs typeface="Arial" pitchFamily="34" charset="-120"/>
              </a:rPr>
              <a:t>Source: MITRE ATT&amp;CK T1078 | NIST SP 800-207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6 Detection Signals Across 2 ATT&amp;CK Techniques</a:t>
            </a:r>
            <a:endParaRPr lang="en-US" sz="2600" dirty="0"/>
          </a:p>
        </p:txBody>
      </p:sp>
      <p:sp>
        <p:nvSpPr>
          <p:cNvPr id="3" name="Shape 1"/>
          <p:cNvSpPr/>
          <p:nvPr/>
        </p:nvSpPr>
        <p:spPr>
          <a:xfrm>
            <a:off x="274320" y="914400"/>
            <a:ext cx="2743200" cy="1691640"/>
          </a:xfrm>
          <a:prstGeom prst="roundRect">
            <a:avLst>
              <a:gd name="adj" fmla="val 4324"/>
            </a:avLst>
          </a:prstGeom>
          <a:solidFill>
            <a:srgbClr val="1E3A5F"/>
          </a:solidFill>
          <a:ln w="6350">
            <a:solidFill>
              <a:srgbClr val="4A6FA5"/>
            </a:solidFill>
            <a:prstDash val="solid"/>
          </a:ln>
          <a:effectLst>
            <a:outerShdw sx="100000" sy="100000" kx="0" ky="0" algn="bl" rotWithShape="0" blurRad="101600" dist="38100" dir="2700000">
              <a:srgbClr val="000000">
                <a:alpha val="18000"/>
              </a:srgbClr>
            </a:outerShdw>
          </a:effectLst>
        </p:spPr>
      </p:sp>
      <p:sp>
        <p:nvSpPr>
          <p:cNvPr id="4" name="Shape 2"/>
          <p:cNvSpPr/>
          <p:nvPr/>
        </p:nvSpPr>
        <p:spPr>
          <a:xfrm>
            <a:off x="384048" y="1024128"/>
            <a:ext cx="256032" cy="256032"/>
          </a:xfrm>
          <a:prstGeom prst="rect">
            <a:avLst/>
          </a:prstGeom>
          <a:solidFill>
            <a:srgbClr val="E63946"/>
          </a:solidFill>
          <a:ln w="12700">
            <a:solidFill>
              <a:srgbClr val="E63946"/>
            </a:solidFill>
            <a:prstDash val="solid"/>
          </a:ln>
        </p:spPr>
      </p:sp>
      <p:sp>
        <p:nvSpPr>
          <p:cNvPr id="5" name="Text 3"/>
          <p:cNvSpPr/>
          <p:nvPr/>
        </p:nvSpPr>
        <p:spPr>
          <a:xfrm>
            <a:off x="731520" y="1005840"/>
            <a:ext cx="2148840" cy="292608"/>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Impossible Travel</a:t>
            </a:r>
            <a:endParaRPr lang="en-US" sz="1100" dirty="0"/>
          </a:p>
        </p:txBody>
      </p:sp>
      <p:sp>
        <p:nvSpPr>
          <p:cNvPr id="6" name="Text 4"/>
          <p:cNvSpPr/>
          <p:nvPr/>
        </p:nvSpPr>
        <p:spPr>
          <a:xfrm>
            <a:off x="384048" y="1371600"/>
            <a:ext cx="2523744"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Login velocity &gt;1,200 km/h between consecutive events</a:t>
            </a:r>
            <a:endParaRPr lang="en-US" sz="950" dirty="0"/>
          </a:p>
        </p:txBody>
      </p:sp>
      <p:sp>
        <p:nvSpPr>
          <p:cNvPr id="7" name="Text 5"/>
          <p:cNvSpPr/>
          <p:nvPr/>
        </p:nvSpPr>
        <p:spPr>
          <a:xfrm>
            <a:off x="384048" y="2286000"/>
            <a:ext cx="1371600" cy="228600"/>
          </a:xfrm>
          <a:prstGeom prst="rect">
            <a:avLst/>
          </a:prstGeom>
          <a:noFill/>
          <a:ln/>
        </p:spPr>
        <p:txBody>
          <a:bodyPr wrap="square" rtlCol="0" anchor="ctr"/>
          <a:lstStyle/>
          <a:p>
            <a:pPr indent="0" marL="0">
              <a:buNone/>
            </a:pPr>
            <a:r>
              <a:rPr lang="en-US" sz="900" b="1" dirty="0">
                <a:solidFill>
                  <a:srgbClr val="3B82F6"/>
                </a:solidFill>
                <a:latin typeface="Courier New" pitchFamily="34" charset="0"/>
                <a:ea typeface="Courier New" pitchFamily="34" charset="-122"/>
                <a:cs typeface="Courier New" pitchFamily="34" charset="-120"/>
              </a:rPr>
              <a:t>T1078</a:t>
            </a:r>
            <a:endParaRPr lang="en-US" sz="900" dirty="0"/>
          </a:p>
        </p:txBody>
      </p:sp>
      <p:sp>
        <p:nvSpPr>
          <p:cNvPr id="8" name="Shape 6"/>
          <p:cNvSpPr/>
          <p:nvPr/>
        </p:nvSpPr>
        <p:spPr>
          <a:xfrm>
            <a:off x="3200400" y="914400"/>
            <a:ext cx="2743200" cy="1691640"/>
          </a:xfrm>
          <a:prstGeom prst="roundRect">
            <a:avLst>
              <a:gd name="adj" fmla="val 4324"/>
            </a:avLst>
          </a:prstGeom>
          <a:solidFill>
            <a:srgbClr val="1E3A5F"/>
          </a:solidFill>
          <a:ln w="6350">
            <a:solidFill>
              <a:srgbClr val="4A6FA5"/>
            </a:solidFill>
            <a:prstDash val="solid"/>
          </a:ln>
          <a:effectLst>
            <a:outerShdw sx="100000" sy="100000" kx="0" ky="0" algn="bl" rotWithShape="0" blurRad="101600" dist="38100" dir="2700000">
              <a:srgbClr val="000000">
                <a:alpha val="18000"/>
              </a:srgbClr>
            </a:outerShdw>
          </a:effectLst>
        </p:spPr>
      </p:sp>
      <p:sp>
        <p:nvSpPr>
          <p:cNvPr id="9" name="Shape 7"/>
          <p:cNvSpPr/>
          <p:nvPr/>
        </p:nvSpPr>
        <p:spPr>
          <a:xfrm>
            <a:off x="3310128" y="1024128"/>
            <a:ext cx="256032" cy="256032"/>
          </a:xfrm>
          <a:prstGeom prst="rect">
            <a:avLst/>
          </a:prstGeom>
          <a:solidFill>
            <a:srgbClr val="F4A261"/>
          </a:solidFill>
          <a:ln w="12700">
            <a:solidFill>
              <a:srgbClr val="F4A261"/>
            </a:solidFill>
            <a:prstDash val="solid"/>
          </a:ln>
        </p:spPr>
      </p:sp>
      <p:sp>
        <p:nvSpPr>
          <p:cNvPr id="10" name="Text 8"/>
          <p:cNvSpPr/>
          <p:nvPr/>
        </p:nvSpPr>
        <p:spPr>
          <a:xfrm>
            <a:off x="3657600" y="1005840"/>
            <a:ext cx="2148840" cy="292608"/>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Typing Speed</a:t>
            </a:r>
            <a:endParaRPr lang="en-US" sz="1100" dirty="0"/>
          </a:p>
        </p:txBody>
      </p:sp>
      <p:sp>
        <p:nvSpPr>
          <p:cNvPr id="11" name="Text 9"/>
          <p:cNvSpPr/>
          <p:nvPr/>
        </p:nvSpPr>
        <p:spPr>
          <a:xfrm>
            <a:off x="3310128" y="1371600"/>
            <a:ext cx="2523744"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Far below baseline (unfamiliar attacker) or above (scripted)</a:t>
            </a:r>
            <a:endParaRPr lang="en-US" sz="950" dirty="0"/>
          </a:p>
        </p:txBody>
      </p:sp>
      <p:sp>
        <p:nvSpPr>
          <p:cNvPr id="12" name="Text 10"/>
          <p:cNvSpPr/>
          <p:nvPr/>
        </p:nvSpPr>
        <p:spPr>
          <a:xfrm>
            <a:off x="3310128" y="2286000"/>
            <a:ext cx="1371600" cy="228600"/>
          </a:xfrm>
          <a:prstGeom prst="rect">
            <a:avLst/>
          </a:prstGeom>
          <a:noFill/>
          <a:ln/>
        </p:spPr>
        <p:txBody>
          <a:bodyPr wrap="square" rtlCol="0" anchor="ctr"/>
          <a:lstStyle/>
          <a:p>
            <a:pPr indent="0" marL="0">
              <a:buNone/>
            </a:pPr>
            <a:r>
              <a:rPr lang="en-US" sz="900" b="1" dirty="0">
                <a:solidFill>
                  <a:srgbClr val="3B82F6"/>
                </a:solidFill>
                <a:latin typeface="Courier New" pitchFamily="34" charset="0"/>
                <a:ea typeface="Courier New" pitchFamily="34" charset="-122"/>
                <a:cs typeface="Courier New" pitchFamily="34" charset="-120"/>
              </a:rPr>
              <a:t>T1078</a:t>
            </a:r>
            <a:endParaRPr lang="en-US" sz="900" dirty="0"/>
          </a:p>
        </p:txBody>
      </p:sp>
      <p:sp>
        <p:nvSpPr>
          <p:cNvPr id="13" name="Shape 11"/>
          <p:cNvSpPr/>
          <p:nvPr/>
        </p:nvSpPr>
        <p:spPr>
          <a:xfrm>
            <a:off x="6126480" y="914400"/>
            <a:ext cx="2743200" cy="1691640"/>
          </a:xfrm>
          <a:prstGeom prst="roundRect">
            <a:avLst>
              <a:gd name="adj" fmla="val 4324"/>
            </a:avLst>
          </a:prstGeom>
          <a:solidFill>
            <a:srgbClr val="1E3A5F"/>
          </a:solidFill>
          <a:ln w="6350">
            <a:solidFill>
              <a:srgbClr val="4A6FA5"/>
            </a:solidFill>
            <a:prstDash val="solid"/>
          </a:ln>
          <a:effectLst>
            <a:outerShdw sx="100000" sy="100000" kx="0" ky="0" algn="bl" rotWithShape="0" blurRad="101600" dist="38100" dir="2700000">
              <a:srgbClr val="000000">
                <a:alpha val="18000"/>
              </a:srgbClr>
            </a:outerShdw>
          </a:effectLst>
        </p:spPr>
      </p:sp>
      <p:sp>
        <p:nvSpPr>
          <p:cNvPr id="14" name="Shape 12"/>
          <p:cNvSpPr/>
          <p:nvPr/>
        </p:nvSpPr>
        <p:spPr>
          <a:xfrm>
            <a:off x="6236208" y="1024128"/>
            <a:ext cx="256032" cy="256032"/>
          </a:xfrm>
          <a:prstGeom prst="rect">
            <a:avLst/>
          </a:prstGeom>
          <a:solidFill>
            <a:srgbClr val="2A9D8F"/>
          </a:solidFill>
          <a:ln w="12700">
            <a:solidFill>
              <a:srgbClr val="2A9D8F"/>
            </a:solidFill>
            <a:prstDash val="solid"/>
          </a:ln>
        </p:spPr>
      </p:sp>
      <p:sp>
        <p:nvSpPr>
          <p:cNvPr id="15" name="Text 13"/>
          <p:cNvSpPr/>
          <p:nvPr/>
        </p:nvSpPr>
        <p:spPr>
          <a:xfrm>
            <a:off x="6583680" y="1005840"/>
            <a:ext cx="2148840" cy="292608"/>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Click-Through Rate</a:t>
            </a:r>
            <a:endParaRPr lang="en-US" sz="1100" dirty="0"/>
          </a:p>
        </p:txBody>
      </p:sp>
      <p:sp>
        <p:nvSpPr>
          <p:cNvPr id="16" name="Text 14"/>
          <p:cNvSpPr/>
          <p:nvPr/>
        </p:nvSpPr>
        <p:spPr>
          <a:xfrm>
            <a:off x="6236208" y="1371600"/>
            <a:ext cx="2523744"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Near 0.0 (bot-like) or near 1.0 (scripted enumeration)</a:t>
            </a:r>
            <a:endParaRPr lang="en-US" sz="950" dirty="0"/>
          </a:p>
        </p:txBody>
      </p:sp>
      <p:sp>
        <p:nvSpPr>
          <p:cNvPr id="17" name="Text 15"/>
          <p:cNvSpPr/>
          <p:nvPr/>
        </p:nvSpPr>
        <p:spPr>
          <a:xfrm>
            <a:off x="6236208" y="2286000"/>
            <a:ext cx="1371600" cy="228600"/>
          </a:xfrm>
          <a:prstGeom prst="rect">
            <a:avLst/>
          </a:prstGeom>
          <a:noFill/>
          <a:ln/>
        </p:spPr>
        <p:txBody>
          <a:bodyPr wrap="square" rtlCol="0" anchor="ctr"/>
          <a:lstStyle/>
          <a:p>
            <a:pPr indent="0" marL="0">
              <a:buNone/>
            </a:pPr>
            <a:r>
              <a:rPr lang="en-US" sz="900" b="1" dirty="0">
                <a:solidFill>
                  <a:srgbClr val="3B82F6"/>
                </a:solidFill>
                <a:latin typeface="Courier New" pitchFamily="34" charset="0"/>
                <a:ea typeface="Courier New" pitchFamily="34" charset="-122"/>
                <a:cs typeface="Courier New" pitchFamily="34" charset="-120"/>
              </a:rPr>
              <a:t>T1078</a:t>
            </a:r>
            <a:endParaRPr lang="en-US" sz="900" dirty="0"/>
          </a:p>
        </p:txBody>
      </p:sp>
      <p:sp>
        <p:nvSpPr>
          <p:cNvPr id="18" name="Shape 16"/>
          <p:cNvSpPr/>
          <p:nvPr/>
        </p:nvSpPr>
        <p:spPr>
          <a:xfrm>
            <a:off x="274320" y="2834640"/>
            <a:ext cx="2743200" cy="1691640"/>
          </a:xfrm>
          <a:prstGeom prst="roundRect">
            <a:avLst>
              <a:gd name="adj" fmla="val 4324"/>
            </a:avLst>
          </a:prstGeom>
          <a:solidFill>
            <a:srgbClr val="1E3A5F"/>
          </a:solidFill>
          <a:ln w="6350">
            <a:solidFill>
              <a:srgbClr val="4A6FA5"/>
            </a:solidFill>
            <a:prstDash val="solid"/>
          </a:ln>
          <a:effectLst>
            <a:outerShdw sx="100000" sy="100000" kx="0" ky="0" algn="bl" rotWithShape="0" blurRad="101600" dist="38100" dir="2700000">
              <a:srgbClr val="000000">
                <a:alpha val="18000"/>
              </a:srgbClr>
            </a:outerShdw>
          </a:effectLst>
        </p:spPr>
      </p:sp>
      <p:sp>
        <p:nvSpPr>
          <p:cNvPr id="19" name="Shape 17"/>
          <p:cNvSpPr/>
          <p:nvPr/>
        </p:nvSpPr>
        <p:spPr>
          <a:xfrm>
            <a:off x="384048" y="2944368"/>
            <a:ext cx="256032" cy="256032"/>
          </a:xfrm>
          <a:prstGeom prst="rect">
            <a:avLst/>
          </a:prstGeom>
          <a:solidFill>
            <a:srgbClr val="9B5DE5"/>
          </a:solidFill>
          <a:ln w="12700">
            <a:solidFill>
              <a:srgbClr val="9B5DE5"/>
            </a:solidFill>
            <a:prstDash val="solid"/>
          </a:ln>
        </p:spPr>
      </p:sp>
      <p:sp>
        <p:nvSpPr>
          <p:cNvPr id="20" name="Text 18"/>
          <p:cNvSpPr/>
          <p:nvPr/>
        </p:nvSpPr>
        <p:spPr>
          <a:xfrm>
            <a:off x="731520" y="2926080"/>
            <a:ext cx="2148840" cy="292608"/>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Session Timing</a:t>
            </a:r>
            <a:endParaRPr lang="en-US" sz="1100" dirty="0"/>
          </a:p>
        </p:txBody>
      </p:sp>
      <p:sp>
        <p:nvSpPr>
          <p:cNvPr id="21" name="Text 19"/>
          <p:cNvSpPr/>
          <p:nvPr/>
        </p:nvSpPr>
        <p:spPr>
          <a:xfrm>
            <a:off x="384048" y="3291840"/>
            <a:ext cx="2523744"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Login at 1–4 AM outside established user baseline hours</a:t>
            </a:r>
            <a:endParaRPr lang="en-US" sz="950" dirty="0"/>
          </a:p>
        </p:txBody>
      </p:sp>
      <p:sp>
        <p:nvSpPr>
          <p:cNvPr id="22" name="Text 20"/>
          <p:cNvSpPr/>
          <p:nvPr/>
        </p:nvSpPr>
        <p:spPr>
          <a:xfrm>
            <a:off x="384048" y="4206240"/>
            <a:ext cx="1371600" cy="228600"/>
          </a:xfrm>
          <a:prstGeom prst="rect">
            <a:avLst/>
          </a:prstGeom>
          <a:noFill/>
          <a:ln/>
        </p:spPr>
        <p:txBody>
          <a:bodyPr wrap="square" rtlCol="0" anchor="ctr"/>
          <a:lstStyle/>
          <a:p>
            <a:pPr indent="0" marL="0">
              <a:buNone/>
            </a:pPr>
            <a:r>
              <a:rPr lang="en-US" sz="900" b="1" dirty="0">
                <a:solidFill>
                  <a:srgbClr val="3B82F6"/>
                </a:solidFill>
                <a:latin typeface="Courier New" pitchFamily="34" charset="0"/>
                <a:ea typeface="Courier New" pitchFamily="34" charset="-122"/>
                <a:cs typeface="Courier New" pitchFamily="34" charset="-120"/>
              </a:rPr>
              <a:t>T1078</a:t>
            </a:r>
            <a:endParaRPr lang="en-US" sz="900" dirty="0"/>
          </a:p>
        </p:txBody>
      </p:sp>
      <p:sp>
        <p:nvSpPr>
          <p:cNvPr id="23" name="Shape 21"/>
          <p:cNvSpPr/>
          <p:nvPr/>
        </p:nvSpPr>
        <p:spPr>
          <a:xfrm>
            <a:off x="3200400" y="2834640"/>
            <a:ext cx="2743200" cy="1691640"/>
          </a:xfrm>
          <a:prstGeom prst="roundRect">
            <a:avLst>
              <a:gd name="adj" fmla="val 4324"/>
            </a:avLst>
          </a:prstGeom>
          <a:solidFill>
            <a:srgbClr val="1E3A5F"/>
          </a:solidFill>
          <a:ln w="6350">
            <a:solidFill>
              <a:srgbClr val="4A6FA5"/>
            </a:solidFill>
            <a:prstDash val="solid"/>
          </a:ln>
          <a:effectLst>
            <a:outerShdw sx="100000" sy="100000" kx="0" ky="0" algn="bl" rotWithShape="0" blurRad="101600" dist="38100" dir="2700000">
              <a:srgbClr val="000000">
                <a:alpha val="18000"/>
              </a:srgbClr>
            </a:outerShdw>
          </a:effectLst>
        </p:spPr>
      </p:sp>
      <p:sp>
        <p:nvSpPr>
          <p:cNvPr id="24" name="Shape 22"/>
          <p:cNvSpPr/>
          <p:nvPr/>
        </p:nvSpPr>
        <p:spPr>
          <a:xfrm>
            <a:off x="3310128" y="2944368"/>
            <a:ext cx="256032" cy="256032"/>
          </a:xfrm>
          <a:prstGeom prst="rect">
            <a:avLst/>
          </a:prstGeom>
          <a:solidFill>
            <a:srgbClr val="FF6B35"/>
          </a:solidFill>
          <a:ln w="12700">
            <a:solidFill>
              <a:srgbClr val="FF6B35"/>
            </a:solidFill>
            <a:prstDash val="solid"/>
          </a:ln>
        </p:spPr>
      </p:sp>
      <p:sp>
        <p:nvSpPr>
          <p:cNvPr id="25" name="Text 23"/>
          <p:cNvSpPr/>
          <p:nvPr/>
        </p:nvSpPr>
        <p:spPr>
          <a:xfrm>
            <a:off x="3657600" y="2926080"/>
            <a:ext cx="2148840" cy="292608"/>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Privilege Escalation</a:t>
            </a:r>
            <a:endParaRPr lang="en-US" sz="1100" dirty="0"/>
          </a:p>
        </p:txBody>
      </p:sp>
      <p:sp>
        <p:nvSpPr>
          <p:cNvPr id="26" name="Text 24"/>
          <p:cNvSpPr/>
          <p:nvPr/>
        </p:nvSpPr>
        <p:spPr>
          <a:xfrm>
            <a:off x="3310128" y="3291840"/>
            <a:ext cx="2523744"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Resource access count spike: 20–50 vs. normal 2–5 per session</a:t>
            </a:r>
            <a:endParaRPr lang="en-US" sz="950" dirty="0"/>
          </a:p>
        </p:txBody>
      </p:sp>
      <p:sp>
        <p:nvSpPr>
          <p:cNvPr id="27" name="Text 25"/>
          <p:cNvSpPr/>
          <p:nvPr/>
        </p:nvSpPr>
        <p:spPr>
          <a:xfrm>
            <a:off x="3310128" y="4206240"/>
            <a:ext cx="1371600" cy="228600"/>
          </a:xfrm>
          <a:prstGeom prst="rect">
            <a:avLst/>
          </a:prstGeom>
          <a:noFill/>
          <a:ln/>
        </p:spPr>
        <p:txBody>
          <a:bodyPr wrap="square" rtlCol="0" anchor="ctr"/>
          <a:lstStyle/>
          <a:p>
            <a:pPr indent="0" marL="0">
              <a:buNone/>
            </a:pPr>
            <a:r>
              <a:rPr lang="en-US" sz="900" b="1" dirty="0">
                <a:solidFill>
                  <a:srgbClr val="3B82F6"/>
                </a:solidFill>
                <a:latin typeface="Courier New" pitchFamily="34" charset="0"/>
                <a:ea typeface="Courier New" pitchFamily="34" charset="-122"/>
                <a:cs typeface="Courier New" pitchFamily="34" charset="-120"/>
              </a:rPr>
              <a:t>T1078</a:t>
            </a:r>
            <a:endParaRPr lang="en-US" sz="900" dirty="0"/>
          </a:p>
        </p:txBody>
      </p:sp>
      <p:sp>
        <p:nvSpPr>
          <p:cNvPr id="28" name="Shape 26"/>
          <p:cNvSpPr/>
          <p:nvPr/>
        </p:nvSpPr>
        <p:spPr>
          <a:xfrm>
            <a:off x="6126480" y="2834640"/>
            <a:ext cx="2743200" cy="1691640"/>
          </a:xfrm>
          <a:prstGeom prst="roundRect">
            <a:avLst>
              <a:gd name="adj" fmla="val 4324"/>
            </a:avLst>
          </a:prstGeom>
          <a:solidFill>
            <a:srgbClr val="1E3A5F"/>
          </a:solidFill>
          <a:ln w="6350">
            <a:solidFill>
              <a:srgbClr val="4A6FA5"/>
            </a:solidFill>
            <a:prstDash val="solid"/>
          </a:ln>
          <a:effectLst>
            <a:outerShdw sx="100000" sy="100000" kx="0" ky="0" algn="bl" rotWithShape="0" blurRad="101600" dist="38100" dir="2700000">
              <a:srgbClr val="000000">
                <a:alpha val="18000"/>
              </a:srgbClr>
            </a:outerShdw>
          </a:effectLst>
        </p:spPr>
      </p:sp>
      <p:sp>
        <p:nvSpPr>
          <p:cNvPr id="29" name="Shape 27"/>
          <p:cNvSpPr/>
          <p:nvPr/>
        </p:nvSpPr>
        <p:spPr>
          <a:xfrm>
            <a:off x="6236208" y="2944368"/>
            <a:ext cx="256032" cy="256032"/>
          </a:xfrm>
          <a:prstGeom prst="rect">
            <a:avLst/>
          </a:prstGeom>
          <a:solidFill>
            <a:srgbClr val="B5179E"/>
          </a:solidFill>
          <a:ln w="12700">
            <a:solidFill>
              <a:srgbClr val="B5179E"/>
            </a:solidFill>
            <a:prstDash val="solid"/>
          </a:ln>
        </p:spPr>
      </p:sp>
      <p:sp>
        <p:nvSpPr>
          <p:cNvPr id="30" name="Text 28"/>
          <p:cNvSpPr/>
          <p:nvPr/>
        </p:nvSpPr>
        <p:spPr>
          <a:xfrm>
            <a:off x="6583680" y="2926080"/>
            <a:ext cx="2148840" cy="292608"/>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Data Exfiltration</a:t>
            </a:r>
            <a:endParaRPr lang="en-US" sz="1100" dirty="0"/>
          </a:p>
        </p:txBody>
      </p:sp>
      <p:sp>
        <p:nvSpPr>
          <p:cNvPr id="31" name="Text 29"/>
          <p:cNvSpPr/>
          <p:nvPr/>
        </p:nvSpPr>
        <p:spPr>
          <a:xfrm>
            <a:off x="6236208" y="3291840"/>
            <a:ext cx="2523744"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Transfer volume spike: 500–2,000 MB vs. normal 0.5–10 MB</a:t>
            </a:r>
            <a:endParaRPr lang="en-US" sz="950" dirty="0"/>
          </a:p>
        </p:txBody>
      </p:sp>
      <p:sp>
        <p:nvSpPr>
          <p:cNvPr id="32" name="Text 30"/>
          <p:cNvSpPr/>
          <p:nvPr/>
        </p:nvSpPr>
        <p:spPr>
          <a:xfrm>
            <a:off x="6236208" y="4206240"/>
            <a:ext cx="1371600" cy="228600"/>
          </a:xfrm>
          <a:prstGeom prst="rect">
            <a:avLst/>
          </a:prstGeom>
          <a:noFill/>
          <a:ln/>
        </p:spPr>
        <p:txBody>
          <a:bodyPr wrap="square" rtlCol="0" anchor="ctr"/>
          <a:lstStyle/>
          <a:p>
            <a:pPr indent="0" marL="0">
              <a:buNone/>
            </a:pPr>
            <a:r>
              <a:rPr lang="en-US" sz="900" b="1" dirty="0">
                <a:solidFill>
                  <a:srgbClr val="3B82F6"/>
                </a:solidFill>
                <a:latin typeface="Courier New" pitchFamily="34" charset="0"/>
                <a:ea typeface="Courier New" pitchFamily="34" charset="-122"/>
                <a:cs typeface="Courier New" pitchFamily="34" charset="-120"/>
              </a:rPr>
              <a:t>T1041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Modular Pipeline Architecture</a:t>
            </a:r>
            <a:endParaRPr lang="en-US" sz="2600" dirty="0"/>
          </a:p>
        </p:txBody>
      </p:sp>
      <p:sp>
        <p:nvSpPr>
          <p:cNvPr id="3" name="Shape 1"/>
          <p:cNvSpPr/>
          <p:nvPr/>
        </p:nvSpPr>
        <p:spPr>
          <a:xfrm>
            <a:off x="274320" y="868680"/>
            <a:ext cx="2743200" cy="1737360"/>
          </a:xfrm>
          <a:prstGeom prst="roundRect">
            <a:avLst>
              <a:gd name="adj" fmla="val 4211"/>
            </a:avLst>
          </a:prstGeom>
          <a:solidFill>
            <a:srgbClr val="FFFFFF"/>
          </a:solidFill>
          <a:ln w="6350">
            <a:solidFill>
              <a:srgbClr val="E2E8F0"/>
            </a:solidFill>
            <a:prstDash val="solid"/>
          </a:ln>
          <a:effectLst>
            <a:outerShdw sx="100000" sy="100000" kx="0" ky="0" algn="bl" rotWithShape="0" blurRad="63500" dist="25400" dir="2700000">
              <a:srgbClr val="000000">
                <a:alpha val="10000"/>
              </a:srgbClr>
            </a:outerShdw>
          </a:effectLst>
        </p:spPr>
      </p:sp>
      <p:sp>
        <p:nvSpPr>
          <p:cNvPr id="4" name="Text 2"/>
          <p:cNvSpPr/>
          <p:nvPr/>
        </p:nvSpPr>
        <p:spPr>
          <a:xfrm>
            <a:off x="384048" y="941832"/>
            <a:ext cx="2523744" cy="274320"/>
          </a:xfrm>
          <a:prstGeom prst="rect">
            <a:avLst/>
          </a:prstGeom>
          <a:noFill/>
          <a:ln/>
        </p:spPr>
        <p:txBody>
          <a:bodyPr wrap="square" rtlCol="0" anchor="ctr"/>
          <a:lstStyle/>
          <a:p>
            <a:pPr indent="0" marL="0">
              <a:buNone/>
            </a:pPr>
            <a:r>
              <a:rPr lang="en-US" sz="950" b="1" dirty="0">
                <a:solidFill>
                  <a:srgbClr val="3B82F6"/>
                </a:solidFill>
                <a:latin typeface="Courier New" pitchFamily="34" charset="0"/>
                <a:ea typeface="Courier New" pitchFamily="34" charset="-122"/>
                <a:cs typeface="Courier New" pitchFamily="34" charset="-120"/>
              </a:rPr>
              <a:t>generate_data.py</a:t>
            </a:r>
            <a:endParaRPr lang="en-US" sz="950" dirty="0"/>
          </a:p>
        </p:txBody>
      </p:sp>
      <p:sp>
        <p:nvSpPr>
          <p:cNvPr id="5" name="Text 3"/>
          <p:cNvSpPr/>
          <p:nvPr/>
        </p:nvSpPr>
        <p:spPr>
          <a:xfrm>
            <a:off x="384048" y="1252728"/>
            <a:ext cx="2523744" cy="256032"/>
          </a:xfrm>
          <a:prstGeom prst="rect">
            <a:avLst/>
          </a:prstGeom>
          <a:noFill/>
          <a:ln/>
        </p:spPr>
        <p:txBody>
          <a:bodyPr wrap="square" rtlCol="0" anchor="ctr"/>
          <a:lstStyle/>
          <a:p>
            <a:pPr indent="0" marL="0">
              <a:buNone/>
            </a:pPr>
            <a:r>
              <a:rPr lang="en-US" sz="1100" b="1" dirty="0">
                <a:solidFill>
                  <a:srgbClr val="1E2761"/>
                </a:solidFill>
                <a:latin typeface="Arial" pitchFamily="34" charset="0"/>
                <a:ea typeface="Arial" pitchFamily="34" charset="-122"/>
                <a:cs typeface="Arial" pitchFamily="34" charset="-120"/>
              </a:rPr>
              <a:t>Source</a:t>
            </a:r>
            <a:endParaRPr lang="en-US" sz="1100" dirty="0"/>
          </a:p>
        </p:txBody>
      </p:sp>
      <p:sp>
        <p:nvSpPr>
          <p:cNvPr id="6" name="Text 4"/>
          <p:cNvSpPr/>
          <p:nvPr/>
        </p:nvSpPr>
        <p:spPr>
          <a:xfrm>
            <a:off x="384048" y="1554480"/>
            <a:ext cx="2523744" cy="9144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Synthetic authentication telemetry — 3,100 events, 100 injected anomalies with ground truth labels</a:t>
            </a:r>
            <a:endParaRPr lang="en-US" sz="950" dirty="0"/>
          </a:p>
        </p:txBody>
      </p:sp>
      <p:sp>
        <p:nvSpPr>
          <p:cNvPr id="7" name="Shape 5"/>
          <p:cNvSpPr/>
          <p:nvPr/>
        </p:nvSpPr>
        <p:spPr>
          <a:xfrm>
            <a:off x="3200400" y="868680"/>
            <a:ext cx="2743200" cy="1737360"/>
          </a:xfrm>
          <a:prstGeom prst="roundRect">
            <a:avLst>
              <a:gd name="adj" fmla="val 4211"/>
            </a:avLst>
          </a:prstGeom>
          <a:solidFill>
            <a:srgbClr val="FFFFFF"/>
          </a:solidFill>
          <a:ln w="6350">
            <a:solidFill>
              <a:srgbClr val="E2E8F0"/>
            </a:solidFill>
            <a:prstDash val="solid"/>
          </a:ln>
          <a:effectLst>
            <a:outerShdw sx="100000" sy="100000" kx="0" ky="0" algn="bl" rotWithShape="0" blurRad="63500" dist="25400" dir="2700000">
              <a:srgbClr val="000000">
                <a:alpha val="10000"/>
              </a:srgbClr>
            </a:outerShdw>
          </a:effectLst>
        </p:spPr>
      </p:sp>
      <p:sp>
        <p:nvSpPr>
          <p:cNvPr id="8" name="Text 6"/>
          <p:cNvSpPr/>
          <p:nvPr/>
        </p:nvSpPr>
        <p:spPr>
          <a:xfrm>
            <a:off x="3310128" y="941832"/>
            <a:ext cx="2523744" cy="274320"/>
          </a:xfrm>
          <a:prstGeom prst="rect">
            <a:avLst/>
          </a:prstGeom>
          <a:noFill/>
          <a:ln/>
        </p:spPr>
        <p:txBody>
          <a:bodyPr wrap="square" rtlCol="0" anchor="ctr"/>
          <a:lstStyle/>
          <a:p>
            <a:pPr indent="0" marL="0">
              <a:buNone/>
            </a:pPr>
            <a:r>
              <a:rPr lang="en-US" sz="950" b="1" dirty="0">
                <a:solidFill>
                  <a:srgbClr val="3B82F6"/>
                </a:solidFill>
                <a:latin typeface="Courier New" pitchFamily="34" charset="0"/>
                <a:ea typeface="Courier New" pitchFamily="34" charset="-122"/>
                <a:cs typeface="Courier New" pitchFamily="34" charset="-120"/>
              </a:rPr>
              <a:t>features.py</a:t>
            </a:r>
            <a:endParaRPr lang="en-US" sz="950" dirty="0"/>
          </a:p>
        </p:txBody>
      </p:sp>
      <p:sp>
        <p:nvSpPr>
          <p:cNvPr id="9" name="Text 7"/>
          <p:cNvSpPr/>
          <p:nvPr/>
        </p:nvSpPr>
        <p:spPr>
          <a:xfrm>
            <a:off x="3310128" y="1252728"/>
            <a:ext cx="2523744" cy="256032"/>
          </a:xfrm>
          <a:prstGeom prst="rect">
            <a:avLst/>
          </a:prstGeom>
          <a:noFill/>
          <a:ln/>
        </p:spPr>
        <p:txBody>
          <a:bodyPr wrap="square" rtlCol="0" anchor="ctr"/>
          <a:lstStyle/>
          <a:p>
            <a:pPr indent="0" marL="0">
              <a:buNone/>
            </a:pPr>
            <a:r>
              <a:rPr lang="en-US" sz="1100" b="1" dirty="0">
                <a:solidFill>
                  <a:srgbClr val="1E2761"/>
                </a:solidFill>
                <a:latin typeface="Arial" pitchFamily="34" charset="0"/>
                <a:ea typeface="Arial" pitchFamily="34" charset="-122"/>
                <a:cs typeface="Arial" pitchFamily="34" charset="-120"/>
              </a:rPr>
              <a:t>Feature Eng.</a:t>
            </a:r>
            <a:endParaRPr lang="en-US" sz="1100" dirty="0"/>
          </a:p>
        </p:txBody>
      </p:sp>
      <p:sp>
        <p:nvSpPr>
          <p:cNvPr id="10" name="Text 8"/>
          <p:cNvSpPr/>
          <p:nvPr/>
        </p:nvSpPr>
        <p:spPr>
          <a:xfrm>
            <a:off x="3310128" y="1554480"/>
            <a:ext cx="2523744" cy="9144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8 behavioral signals derived via Haversine formula and pandas shift(1) sequential operations</a:t>
            </a:r>
            <a:endParaRPr lang="en-US" sz="950" dirty="0"/>
          </a:p>
        </p:txBody>
      </p:sp>
      <p:sp>
        <p:nvSpPr>
          <p:cNvPr id="11" name="Shape 9"/>
          <p:cNvSpPr/>
          <p:nvPr/>
        </p:nvSpPr>
        <p:spPr>
          <a:xfrm>
            <a:off x="6126480" y="868680"/>
            <a:ext cx="2743200" cy="1737360"/>
          </a:xfrm>
          <a:prstGeom prst="roundRect">
            <a:avLst>
              <a:gd name="adj" fmla="val 4211"/>
            </a:avLst>
          </a:prstGeom>
          <a:solidFill>
            <a:srgbClr val="FFFFFF"/>
          </a:solidFill>
          <a:ln w="6350">
            <a:solidFill>
              <a:srgbClr val="E2E8F0"/>
            </a:solidFill>
            <a:prstDash val="solid"/>
          </a:ln>
          <a:effectLst>
            <a:outerShdw sx="100000" sy="100000" kx="0" ky="0" algn="bl" rotWithShape="0" blurRad="63500" dist="25400" dir="2700000">
              <a:srgbClr val="000000">
                <a:alpha val="10000"/>
              </a:srgbClr>
            </a:outerShdw>
          </a:effectLst>
        </p:spPr>
      </p:sp>
      <p:sp>
        <p:nvSpPr>
          <p:cNvPr id="12" name="Text 10"/>
          <p:cNvSpPr/>
          <p:nvPr/>
        </p:nvSpPr>
        <p:spPr>
          <a:xfrm>
            <a:off x="6236208" y="941832"/>
            <a:ext cx="2523744" cy="274320"/>
          </a:xfrm>
          <a:prstGeom prst="rect">
            <a:avLst/>
          </a:prstGeom>
          <a:noFill/>
          <a:ln/>
        </p:spPr>
        <p:txBody>
          <a:bodyPr wrap="square" rtlCol="0" anchor="ctr"/>
          <a:lstStyle/>
          <a:p>
            <a:pPr indent="0" marL="0">
              <a:buNone/>
            </a:pPr>
            <a:r>
              <a:rPr lang="en-US" sz="950" b="1" dirty="0">
                <a:solidFill>
                  <a:srgbClr val="3B82F6"/>
                </a:solidFill>
                <a:latin typeface="Courier New" pitchFamily="34" charset="0"/>
                <a:ea typeface="Courier New" pitchFamily="34" charset="-122"/>
                <a:cs typeface="Courier New" pitchFamily="34" charset="-120"/>
              </a:rPr>
              <a:t>isolation_forest.py</a:t>
            </a:r>
            <a:endParaRPr lang="en-US" sz="950" dirty="0"/>
          </a:p>
        </p:txBody>
      </p:sp>
      <p:sp>
        <p:nvSpPr>
          <p:cNvPr id="13" name="Text 11"/>
          <p:cNvSpPr/>
          <p:nvPr/>
        </p:nvSpPr>
        <p:spPr>
          <a:xfrm>
            <a:off x="6236208" y="1252728"/>
            <a:ext cx="2523744" cy="256032"/>
          </a:xfrm>
          <a:prstGeom prst="rect">
            <a:avLst/>
          </a:prstGeom>
          <a:noFill/>
          <a:ln/>
        </p:spPr>
        <p:txBody>
          <a:bodyPr wrap="square" rtlCol="0" anchor="ctr"/>
          <a:lstStyle/>
          <a:p>
            <a:pPr indent="0" marL="0">
              <a:buNone/>
            </a:pPr>
            <a:r>
              <a:rPr lang="en-US" sz="1100" b="1" dirty="0">
                <a:solidFill>
                  <a:srgbClr val="1E2761"/>
                </a:solidFill>
                <a:latin typeface="Arial" pitchFamily="34" charset="0"/>
                <a:ea typeface="Arial" pitchFamily="34" charset="-122"/>
                <a:cs typeface="Arial" pitchFamily="34" charset="-120"/>
              </a:rPr>
              <a:t>Model 1</a:t>
            </a:r>
            <a:endParaRPr lang="en-US" sz="1100" dirty="0"/>
          </a:p>
        </p:txBody>
      </p:sp>
      <p:sp>
        <p:nvSpPr>
          <p:cNvPr id="14" name="Text 12"/>
          <p:cNvSpPr/>
          <p:nvPr/>
        </p:nvSpPr>
        <p:spPr>
          <a:xfrm>
            <a:off x="6236208" y="1554480"/>
            <a:ext cx="2523744" cy="9144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Isolation Forest — ensemble of 100 trees, contamination=0.033, raw anomaly scores</a:t>
            </a:r>
            <a:endParaRPr lang="en-US" sz="950" dirty="0"/>
          </a:p>
        </p:txBody>
      </p:sp>
      <p:sp>
        <p:nvSpPr>
          <p:cNvPr id="15" name="Shape 13"/>
          <p:cNvSpPr/>
          <p:nvPr/>
        </p:nvSpPr>
        <p:spPr>
          <a:xfrm>
            <a:off x="274320" y="2788920"/>
            <a:ext cx="2743200" cy="1737360"/>
          </a:xfrm>
          <a:prstGeom prst="roundRect">
            <a:avLst>
              <a:gd name="adj" fmla="val 4211"/>
            </a:avLst>
          </a:prstGeom>
          <a:solidFill>
            <a:srgbClr val="FFFFFF"/>
          </a:solidFill>
          <a:ln w="6350">
            <a:solidFill>
              <a:srgbClr val="E2E8F0"/>
            </a:solidFill>
            <a:prstDash val="solid"/>
          </a:ln>
          <a:effectLst>
            <a:outerShdw sx="100000" sy="100000" kx="0" ky="0" algn="bl" rotWithShape="0" blurRad="63500" dist="25400" dir="2700000">
              <a:srgbClr val="000000">
                <a:alpha val="10000"/>
              </a:srgbClr>
            </a:outerShdw>
          </a:effectLst>
        </p:spPr>
      </p:sp>
      <p:sp>
        <p:nvSpPr>
          <p:cNvPr id="16" name="Text 14"/>
          <p:cNvSpPr/>
          <p:nvPr/>
        </p:nvSpPr>
        <p:spPr>
          <a:xfrm>
            <a:off x="384048" y="2862072"/>
            <a:ext cx="2523744" cy="274320"/>
          </a:xfrm>
          <a:prstGeom prst="rect">
            <a:avLst/>
          </a:prstGeom>
          <a:noFill/>
          <a:ln/>
        </p:spPr>
        <p:txBody>
          <a:bodyPr wrap="square" rtlCol="0" anchor="ctr"/>
          <a:lstStyle/>
          <a:p>
            <a:pPr indent="0" marL="0">
              <a:buNone/>
            </a:pPr>
            <a:r>
              <a:rPr lang="en-US" sz="950" b="1" dirty="0">
                <a:solidFill>
                  <a:srgbClr val="3B82F6"/>
                </a:solidFill>
                <a:latin typeface="Courier New" pitchFamily="34" charset="0"/>
                <a:ea typeface="Courier New" pitchFamily="34" charset="-122"/>
                <a:cs typeface="Courier New" pitchFamily="34" charset="-120"/>
              </a:rPr>
              <a:t>one_class_svm.py</a:t>
            </a:r>
            <a:endParaRPr lang="en-US" sz="950" dirty="0"/>
          </a:p>
        </p:txBody>
      </p:sp>
      <p:sp>
        <p:nvSpPr>
          <p:cNvPr id="17" name="Text 15"/>
          <p:cNvSpPr/>
          <p:nvPr/>
        </p:nvSpPr>
        <p:spPr>
          <a:xfrm>
            <a:off x="384048" y="3172968"/>
            <a:ext cx="2523744" cy="256032"/>
          </a:xfrm>
          <a:prstGeom prst="rect">
            <a:avLst/>
          </a:prstGeom>
          <a:noFill/>
          <a:ln/>
        </p:spPr>
        <p:txBody>
          <a:bodyPr wrap="square" rtlCol="0" anchor="ctr"/>
          <a:lstStyle/>
          <a:p>
            <a:pPr indent="0" marL="0">
              <a:buNone/>
            </a:pPr>
            <a:r>
              <a:rPr lang="en-US" sz="1100" b="1" dirty="0">
                <a:solidFill>
                  <a:srgbClr val="1E2761"/>
                </a:solidFill>
                <a:latin typeface="Arial" pitchFamily="34" charset="0"/>
                <a:ea typeface="Arial" pitchFamily="34" charset="-122"/>
                <a:cs typeface="Arial" pitchFamily="34" charset="-120"/>
              </a:rPr>
              <a:t>Model 2</a:t>
            </a:r>
            <a:endParaRPr lang="en-US" sz="1100" dirty="0"/>
          </a:p>
        </p:txBody>
      </p:sp>
      <p:sp>
        <p:nvSpPr>
          <p:cNvPr id="18" name="Text 16"/>
          <p:cNvSpPr/>
          <p:nvPr/>
        </p:nvSpPr>
        <p:spPr>
          <a:xfrm>
            <a:off x="384048" y="3474720"/>
            <a:ext cx="2523744" cy="9144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One-Class SVM — RBF kernel, nu=0.033, comparative model for precision/recall tradeoff analysis</a:t>
            </a:r>
            <a:endParaRPr lang="en-US" sz="950" dirty="0"/>
          </a:p>
        </p:txBody>
      </p:sp>
      <p:sp>
        <p:nvSpPr>
          <p:cNvPr id="19" name="Shape 17"/>
          <p:cNvSpPr/>
          <p:nvPr/>
        </p:nvSpPr>
        <p:spPr>
          <a:xfrm>
            <a:off x="3200400" y="2788920"/>
            <a:ext cx="2743200" cy="1737360"/>
          </a:xfrm>
          <a:prstGeom prst="roundRect">
            <a:avLst>
              <a:gd name="adj" fmla="val 4211"/>
            </a:avLst>
          </a:prstGeom>
          <a:solidFill>
            <a:srgbClr val="FFFFFF"/>
          </a:solidFill>
          <a:ln w="6350">
            <a:solidFill>
              <a:srgbClr val="E2E8F0"/>
            </a:solidFill>
            <a:prstDash val="solid"/>
          </a:ln>
          <a:effectLst>
            <a:outerShdw sx="100000" sy="100000" kx="0" ky="0" algn="bl" rotWithShape="0" blurRad="63500" dist="25400" dir="2700000">
              <a:srgbClr val="000000">
                <a:alpha val="10000"/>
              </a:srgbClr>
            </a:outerShdw>
          </a:effectLst>
        </p:spPr>
      </p:sp>
      <p:sp>
        <p:nvSpPr>
          <p:cNvPr id="20" name="Text 18"/>
          <p:cNvSpPr/>
          <p:nvPr/>
        </p:nvSpPr>
        <p:spPr>
          <a:xfrm>
            <a:off x="3310128" y="2862072"/>
            <a:ext cx="2523744" cy="274320"/>
          </a:xfrm>
          <a:prstGeom prst="rect">
            <a:avLst/>
          </a:prstGeom>
          <a:noFill/>
          <a:ln/>
        </p:spPr>
        <p:txBody>
          <a:bodyPr wrap="square" rtlCol="0" anchor="ctr"/>
          <a:lstStyle/>
          <a:p>
            <a:pPr indent="0" marL="0">
              <a:buNone/>
            </a:pPr>
            <a:r>
              <a:rPr lang="en-US" sz="950" b="1" dirty="0">
                <a:solidFill>
                  <a:srgbClr val="3B82F6"/>
                </a:solidFill>
                <a:latin typeface="Courier New" pitchFamily="34" charset="0"/>
                <a:ea typeface="Courier New" pitchFamily="34" charset="-122"/>
                <a:cs typeface="Courier New" pitchFamily="34" charset="-120"/>
              </a:rPr>
              <a:t>evaluate.py</a:t>
            </a:r>
            <a:endParaRPr lang="en-US" sz="950" dirty="0"/>
          </a:p>
        </p:txBody>
      </p:sp>
      <p:sp>
        <p:nvSpPr>
          <p:cNvPr id="21" name="Text 19"/>
          <p:cNvSpPr/>
          <p:nvPr/>
        </p:nvSpPr>
        <p:spPr>
          <a:xfrm>
            <a:off x="3310128" y="3172968"/>
            <a:ext cx="2523744" cy="256032"/>
          </a:xfrm>
          <a:prstGeom prst="rect">
            <a:avLst/>
          </a:prstGeom>
          <a:noFill/>
          <a:ln/>
        </p:spPr>
        <p:txBody>
          <a:bodyPr wrap="square" rtlCol="0" anchor="ctr"/>
          <a:lstStyle/>
          <a:p>
            <a:pPr indent="0" marL="0">
              <a:buNone/>
            </a:pPr>
            <a:r>
              <a:rPr lang="en-US" sz="1100" b="1" dirty="0">
                <a:solidFill>
                  <a:srgbClr val="1E2761"/>
                </a:solidFill>
                <a:latin typeface="Arial" pitchFamily="34" charset="0"/>
                <a:ea typeface="Arial" pitchFamily="34" charset="-122"/>
                <a:cs typeface="Arial" pitchFamily="34" charset="-120"/>
              </a:rPr>
              <a:t>Risk &amp; Taxonomy</a:t>
            </a:r>
            <a:endParaRPr lang="en-US" sz="1100" dirty="0"/>
          </a:p>
        </p:txBody>
      </p:sp>
      <p:sp>
        <p:nvSpPr>
          <p:cNvPr id="22" name="Text 20"/>
          <p:cNvSpPr/>
          <p:nvPr/>
        </p:nvSpPr>
        <p:spPr>
          <a:xfrm>
            <a:off x="3310128" y="3474720"/>
            <a:ext cx="2523744" cy="9144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Composite risk score (weighted average) + MITRE ATT&amp;CK technique ID mapping per event</a:t>
            </a:r>
            <a:endParaRPr lang="en-US" sz="950" dirty="0"/>
          </a:p>
        </p:txBody>
      </p:sp>
      <p:sp>
        <p:nvSpPr>
          <p:cNvPr id="23" name="Shape 21"/>
          <p:cNvSpPr/>
          <p:nvPr/>
        </p:nvSpPr>
        <p:spPr>
          <a:xfrm>
            <a:off x="6126480" y="2788920"/>
            <a:ext cx="2743200" cy="1737360"/>
          </a:xfrm>
          <a:prstGeom prst="roundRect">
            <a:avLst>
              <a:gd name="adj" fmla="val 4211"/>
            </a:avLst>
          </a:prstGeom>
          <a:solidFill>
            <a:srgbClr val="FFFFFF"/>
          </a:solidFill>
          <a:ln w="6350">
            <a:solidFill>
              <a:srgbClr val="E2E8F0"/>
            </a:solidFill>
            <a:prstDash val="solid"/>
          </a:ln>
          <a:effectLst>
            <a:outerShdw sx="100000" sy="100000" kx="0" ky="0" algn="bl" rotWithShape="0" blurRad="63500" dist="25400" dir="2700000">
              <a:srgbClr val="000000">
                <a:alpha val="10000"/>
              </a:srgbClr>
            </a:outerShdw>
          </a:effectLst>
        </p:spPr>
      </p:sp>
      <p:sp>
        <p:nvSpPr>
          <p:cNvPr id="24" name="Text 22"/>
          <p:cNvSpPr/>
          <p:nvPr/>
        </p:nvSpPr>
        <p:spPr>
          <a:xfrm>
            <a:off x="6236208" y="2862072"/>
            <a:ext cx="2523744" cy="274320"/>
          </a:xfrm>
          <a:prstGeom prst="rect">
            <a:avLst/>
          </a:prstGeom>
          <a:noFill/>
          <a:ln/>
        </p:spPr>
        <p:txBody>
          <a:bodyPr wrap="square" rtlCol="0" anchor="ctr"/>
          <a:lstStyle/>
          <a:p>
            <a:pPr indent="0" marL="0">
              <a:buNone/>
            </a:pPr>
            <a:r>
              <a:rPr lang="en-US" sz="950" b="1" dirty="0">
                <a:solidFill>
                  <a:srgbClr val="3B82F6"/>
                </a:solidFill>
                <a:latin typeface="Courier New" pitchFamily="34" charset="0"/>
                <a:ea typeface="Courier New" pitchFamily="34" charset="-122"/>
                <a:cs typeface="Courier New" pitchFamily="34" charset="-120"/>
              </a:rPr>
              <a:t>visualize.py</a:t>
            </a:r>
            <a:endParaRPr lang="en-US" sz="950" dirty="0"/>
          </a:p>
        </p:txBody>
      </p:sp>
      <p:sp>
        <p:nvSpPr>
          <p:cNvPr id="25" name="Text 23"/>
          <p:cNvSpPr/>
          <p:nvPr/>
        </p:nvSpPr>
        <p:spPr>
          <a:xfrm>
            <a:off x="6236208" y="3172968"/>
            <a:ext cx="2523744" cy="256032"/>
          </a:xfrm>
          <a:prstGeom prst="rect">
            <a:avLst/>
          </a:prstGeom>
          <a:noFill/>
          <a:ln/>
        </p:spPr>
        <p:txBody>
          <a:bodyPr wrap="square" rtlCol="0" anchor="ctr"/>
          <a:lstStyle/>
          <a:p>
            <a:pPr indent="0" marL="0">
              <a:buNone/>
            </a:pPr>
            <a:r>
              <a:rPr lang="en-US" sz="1100" b="1" dirty="0">
                <a:solidFill>
                  <a:srgbClr val="1E2761"/>
                </a:solidFill>
                <a:latin typeface="Arial" pitchFamily="34" charset="0"/>
                <a:ea typeface="Arial" pitchFamily="34" charset="-122"/>
                <a:cs typeface="Arial" pitchFamily="34" charset="-120"/>
              </a:rPr>
              <a:t>Outputs</a:t>
            </a:r>
            <a:endParaRPr lang="en-US" sz="1100" dirty="0"/>
          </a:p>
        </p:txBody>
      </p:sp>
      <p:sp>
        <p:nvSpPr>
          <p:cNvPr id="26" name="Text 24"/>
          <p:cNvSpPr/>
          <p:nvPr/>
        </p:nvSpPr>
        <p:spPr>
          <a:xfrm>
            <a:off x="6236208" y="3474720"/>
            <a:ext cx="2523744" cy="9144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Score distribution, confusion matrix, per-signal scatter plots, risk score box plots</a:t>
            </a:r>
            <a:endParaRPr lang="en-US" sz="950" dirty="0"/>
          </a:p>
        </p:txBody>
      </p:sp>
      <p:sp>
        <p:nvSpPr>
          <p:cNvPr id="27" name="Text 25"/>
          <p:cNvSpPr/>
          <p:nvPr/>
        </p:nvSpPr>
        <p:spPr>
          <a:xfrm>
            <a:off x="365760" y="4892040"/>
            <a:ext cx="8412480" cy="182880"/>
          </a:xfrm>
          <a:prstGeom prst="rect">
            <a:avLst/>
          </a:prstGeom>
          <a:noFill/>
          <a:ln/>
        </p:spPr>
        <p:txBody>
          <a:bodyPr wrap="square" rtlCol="0" anchor="ctr"/>
          <a:lstStyle/>
          <a:p>
            <a:pPr indent="0" marL="0">
              <a:buNone/>
            </a:pPr>
            <a:r>
              <a:rPr lang="en-US" sz="900" i="1" dirty="0">
                <a:solidFill>
                  <a:srgbClr val="94A3B8"/>
                </a:solidFill>
                <a:latin typeface="Arial" pitchFamily="34" charset="0"/>
                <a:ea typeface="Arial" pitchFamily="34" charset="-122"/>
                <a:cs typeface="Arial" pitchFamily="34" charset="-120"/>
              </a:rPr>
              <a:t>Connection string in config.py — swap Data/login_events.csv for any Snowflake, BigQuery, or Redshift connection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Synthetic Dataset with Ground Truth Labels</a:t>
            </a:r>
            <a:endParaRPr lang="en-US" sz="2600" dirty="0"/>
          </a:p>
        </p:txBody>
      </p:sp>
      <p:sp>
        <p:nvSpPr>
          <p:cNvPr id="3" name="Text 1"/>
          <p:cNvSpPr/>
          <p:nvPr/>
        </p:nvSpPr>
        <p:spPr>
          <a:xfrm>
            <a:off x="365760" y="777240"/>
            <a:ext cx="8412480" cy="411480"/>
          </a:xfrm>
          <a:prstGeom prst="rect">
            <a:avLst/>
          </a:prstGeom>
          <a:noFill/>
          <a:ln/>
        </p:spPr>
        <p:txBody>
          <a:bodyPr wrap="square" rtlCol="0" anchor="ctr"/>
          <a:lstStyle/>
          <a:p>
            <a:pPr indent="0" marL="0">
              <a:buNone/>
            </a:pPr>
            <a:r>
              <a:rPr lang="en-US" sz="1200" i="1" dirty="0">
                <a:solidFill>
                  <a:srgbClr val="CADCFC"/>
                </a:solidFill>
                <a:latin typeface="Arial" pitchFamily="34" charset="0"/>
                <a:ea typeface="Arial" pitchFamily="34" charset="-122"/>
                <a:cs typeface="Arial" pitchFamily="34" charset="-120"/>
              </a:rPr>
              <a:t>Synthetic data enables rigorous precision/recall evaluation — standard practice when real behavioral telemetry is unavailable due to privacy constraints.</a:t>
            </a:r>
            <a:endParaRPr lang="en-US" sz="1200" dirty="0"/>
          </a:p>
        </p:txBody>
      </p:sp>
      <p:sp>
        <p:nvSpPr>
          <p:cNvPr id="4" name="Shape 2"/>
          <p:cNvSpPr/>
          <p:nvPr/>
        </p:nvSpPr>
        <p:spPr>
          <a:xfrm>
            <a:off x="274320" y="1280160"/>
            <a:ext cx="3200400" cy="3657600"/>
          </a:xfrm>
          <a:prstGeom prst="roundRect">
            <a:avLst>
              <a:gd name="adj" fmla="val 2857"/>
            </a:avLst>
          </a:prstGeom>
          <a:solidFill>
            <a:srgbClr val="1E3A5F"/>
          </a:solidFill>
          <a:ln w="12700">
            <a:solidFill>
              <a:srgbClr val="1E3A5F"/>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411480" y="1371600"/>
            <a:ext cx="2926080" cy="320040"/>
          </a:xfrm>
          <a:prstGeom prst="rect">
            <a:avLst/>
          </a:prstGeom>
          <a:noFill/>
          <a:ln/>
        </p:spPr>
        <p:txBody>
          <a:bodyPr wrap="square" rtlCol="0" anchor="ctr"/>
          <a:lstStyle/>
          <a:p>
            <a:pPr indent="0" marL="0">
              <a:buNone/>
            </a:pPr>
            <a:r>
              <a:rPr lang="en-US" sz="1300" b="1" dirty="0">
                <a:solidFill>
                  <a:srgbClr val="CADCFC"/>
                </a:solidFill>
                <a:latin typeface="Arial" pitchFamily="34" charset="0"/>
                <a:ea typeface="Arial" pitchFamily="34" charset="-122"/>
                <a:cs typeface="Arial" pitchFamily="34" charset="-120"/>
              </a:rPr>
              <a:t>Dataset Statistics</a:t>
            </a:r>
            <a:endParaRPr lang="en-US" sz="1300" dirty="0"/>
          </a:p>
        </p:txBody>
      </p:sp>
      <p:sp>
        <p:nvSpPr>
          <p:cNvPr id="6" name="Text 4"/>
          <p:cNvSpPr/>
          <p:nvPr/>
        </p:nvSpPr>
        <p:spPr>
          <a:xfrm>
            <a:off x="411480" y="1828800"/>
            <a:ext cx="1737360" cy="36576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Total Events</a:t>
            </a:r>
            <a:endParaRPr lang="en-US" sz="1100" dirty="0"/>
          </a:p>
        </p:txBody>
      </p:sp>
      <p:sp>
        <p:nvSpPr>
          <p:cNvPr id="7" name="Text 5"/>
          <p:cNvSpPr/>
          <p:nvPr/>
        </p:nvSpPr>
        <p:spPr>
          <a:xfrm>
            <a:off x="2194560" y="1828800"/>
            <a:ext cx="109728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3,100</a:t>
            </a:r>
            <a:endParaRPr lang="en-US" sz="1100" dirty="0"/>
          </a:p>
        </p:txBody>
      </p:sp>
      <p:sp>
        <p:nvSpPr>
          <p:cNvPr id="8" name="Text 6"/>
          <p:cNvSpPr/>
          <p:nvPr/>
        </p:nvSpPr>
        <p:spPr>
          <a:xfrm>
            <a:off x="411480" y="2359152"/>
            <a:ext cx="1737360" cy="36576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Normal Logins</a:t>
            </a:r>
            <a:endParaRPr lang="en-US" sz="1100" dirty="0"/>
          </a:p>
        </p:txBody>
      </p:sp>
      <p:sp>
        <p:nvSpPr>
          <p:cNvPr id="9" name="Text 7"/>
          <p:cNvSpPr/>
          <p:nvPr/>
        </p:nvSpPr>
        <p:spPr>
          <a:xfrm>
            <a:off x="2194560" y="2359152"/>
            <a:ext cx="109728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3,000</a:t>
            </a:r>
            <a:endParaRPr lang="en-US" sz="1100" dirty="0"/>
          </a:p>
        </p:txBody>
      </p:sp>
      <p:sp>
        <p:nvSpPr>
          <p:cNvPr id="10" name="Text 8"/>
          <p:cNvSpPr/>
          <p:nvPr/>
        </p:nvSpPr>
        <p:spPr>
          <a:xfrm>
            <a:off x="411480" y="2889504"/>
            <a:ext cx="1737360" cy="36576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Injected Anomalies</a:t>
            </a:r>
            <a:endParaRPr lang="en-US" sz="1100" dirty="0"/>
          </a:p>
        </p:txBody>
      </p:sp>
      <p:sp>
        <p:nvSpPr>
          <p:cNvPr id="11" name="Text 9"/>
          <p:cNvSpPr/>
          <p:nvPr/>
        </p:nvSpPr>
        <p:spPr>
          <a:xfrm>
            <a:off x="2194560" y="2889504"/>
            <a:ext cx="109728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100 (3.23%)</a:t>
            </a:r>
            <a:endParaRPr lang="en-US" sz="1100" dirty="0"/>
          </a:p>
        </p:txBody>
      </p:sp>
      <p:sp>
        <p:nvSpPr>
          <p:cNvPr id="12" name="Text 10"/>
          <p:cNvSpPr/>
          <p:nvPr/>
        </p:nvSpPr>
        <p:spPr>
          <a:xfrm>
            <a:off x="411480" y="3419856"/>
            <a:ext cx="1737360" cy="36576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Users</a:t>
            </a:r>
            <a:endParaRPr lang="en-US" sz="1100" dirty="0"/>
          </a:p>
        </p:txBody>
      </p:sp>
      <p:sp>
        <p:nvSpPr>
          <p:cNvPr id="13" name="Text 11"/>
          <p:cNvSpPr/>
          <p:nvPr/>
        </p:nvSpPr>
        <p:spPr>
          <a:xfrm>
            <a:off x="2194560" y="3419856"/>
            <a:ext cx="109728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50</a:t>
            </a:r>
            <a:endParaRPr lang="en-US" sz="1100" dirty="0"/>
          </a:p>
        </p:txBody>
      </p:sp>
      <p:sp>
        <p:nvSpPr>
          <p:cNvPr id="14" name="Text 12"/>
          <p:cNvSpPr/>
          <p:nvPr/>
        </p:nvSpPr>
        <p:spPr>
          <a:xfrm>
            <a:off x="411480" y="3950208"/>
            <a:ext cx="1737360" cy="36576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Time Span</a:t>
            </a:r>
            <a:endParaRPr lang="en-US" sz="1100" dirty="0"/>
          </a:p>
        </p:txBody>
      </p:sp>
      <p:sp>
        <p:nvSpPr>
          <p:cNvPr id="15" name="Text 13"/>
          <p:cNvSpPr/>
          <p:nvPr/>
        </p:nvSpPr>
        <p:spPr>
          <a:xfrm>
            <a:off x="2194560" y="3950208"/>
            <a:ext cx="109728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~2 months</a:t>
            </a:r>
            <a:endParaRPr lang="en-US" sz="1100" dirty="0"/>
          </a:p>
        </p:txBody>
      </p:sp>
      <p:sp>
        <p:nvSpPr>
          <p:cNvPr id="16" name="Shape 14"/>
          <p:cNvSpPr/>
          <p:nvPr/>
        </p:nvSpPr>
        <p:spPr>
          <a:xfrm>
            <a:off x="3657600" y="1280160"/>
            <a:ext cx="5212080" cy="3657600"/>
          </a:xfrm>
          <a:prstGeom prst="roundRect">
            <a:avLst>
              <a:gd name="adj" fmla="val 2500"/>
            </a:avLst>
          </a:prstGeom>
          <a:solidFill>
            <a:srgbClr val="1E3A5F"/>
          </a:solidFill>
          <a:ln w="12700">
            <a:solidFill>
              <a:srgbClr val="1E3A5F"/>
            </a:solidFill>
            <a:prstDash val="solid"/>
          </a:ln>
          <a:effectLst>
            <a:outerShdw sx="100000" sy="100000" kx="0" ky="0" algn="bl" rotWithShape="0" blurRad="101600" dist="38100" dir="2700000">
              <a:srgbClr val="000000">
                <a:alpha val="18000"/>
              </a:srgbClr>
            </a:outerShdw>
          </a:effectLst>
        </p:spPr>
      </p:sp>
      <p:sp>
        <p:nvSpPr>
          <p:cNvPr id="17" name="Text 15"/>
          <p:cNvSpPr/>
          <p:nvPr/>
        </p:nvSpPr>
        <p:spPr>
          <a:xfrm>
            <a:off x="3794760" y="1371600"/>
            <a:ext cx="4937760" cy="320040"/>
          </a:xfrm>
          <a:prstGeom prst="rect">
            <a:avLst/>
          </a:prstGeom>
          <a:noFill/>
          <a:ln/>
        </p:spPr>
        <p:txBody>
          <a:bodyPr wrap="square" rtlCol="0" anchor="ctr"/>
          <a:lstStyle/>
          <a:p>
            <a:pPr indent="0" marL="0">
              <a:buNone/>
            </a:pPr>
            <a:r>
              <a:rPr lang="en-US" sz="1300" b="1" dirty="0">
                <a:solidFill>
                  <a:srgbClr val="CADCFC"/>
                </a:solidFill>
                <a:latin typeface="Arial" pitchFamily="34" charset="0"/>
                <a:ea typeface="Arial" pitchFamily="34" charset="-122"/>
                <a:cs typeface="Arial" pitchFamily="34" charset="-120"/>
              </a:rPr>
              <a:t>Anomaly Breakdown</a:t>
            </a:r>
            <a:endParaRPr lang="en-US" sz="1300" dirty="0"/>
          </a:p>
        </p:txBody>
      </p:sp>
      <p:sp>
        <p:nvSpPr>
          <p:cNvPr id="18" name="Text 16"/>
          <p:cNvSpPr/>
          <p:nvPr/>
        </p:nvSpPr>
        <p:spPr>
          <a:xfrm>
            <a:off x="3794760" y="1828800"/>
            <a:ext cx="25603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Impossible Travel</a:t>
            </a:r>
            <a:endParaRPr lang="en-US" sz="1000" dirty="0"/>
          </a:p>
        </p:txBody>
      </p:sp>
      <p:sp>
        <p:nvSpPr>
          <p:cNvPr id="19" name="Text 17"/>
          <p:cNvSpPr/>
          <p:nvPr/>
        </p:nvSpPr>
        <p:spPr>
          <a:xfrm>
            <a:off x="6492240" y="1828800"/>
            <a:ext cx="640080" cy="347472"/>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30</a:t>
            </a:r>
            <a:endParaRPr lang="en-US" sz="1000" dirty="0"/>
          </a:p>
        </p:txBody>
      </p:sp>
      <p:sp>
        <p:nvSpPr>
          <p:cNvPr id="20" name="Text 18"/>
          <p:cNvSpPr/>
          <p:nvPr/>
        </p:nvSpPr>
        <p:spPr>
          <a:xfrm>
            <a:off x="7223760" y="1828800"/>
            <a:ext cx="1463040" cy="347472"/>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T1078</a:t>
            </a:r>
            <a:endParaRPr lang="en-US" sz="1000" dirty="0"/>
          </a:p>
        </p:txBody>
      </p:sp>
      <p:sp>
        <p:nvSpPr>
          <p:cNvPr id="21" name="Text 19"/>
          <p:cNvSpPr/>
          <p:nvPr/>
        </p:nvSpPr>
        <p:spPr>
          <a:xfrm>
            <a:off x="3794760" y="2331720"/>
            <a:ext cx="25603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Typing Speed</a:t>
            </a:r>
            <a:endParaRPr lang="en-US" sz="1000" dirty="0"/>
          </a:p>
        </p:txBody>
      </p:sp>
      <p:sp>
        <p:nvSpPr>
          <p:cNvPr id="22" name="Text 20"/>
          <p:cNvSpPr/>
          <p:nvPr/>
        </p:nvSpPr>
        <p:spPr>
          <a:xfrm>
            <a:off x="6492240" y="2331720"/>
            <a:ext cx="640080" cy="347472"/>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20</a:t>
            </a:r>
            <a:endParaRPr lang="en-US" sz="1000" dirty="0"/>
          </a:p>
        </p:txBody>
      </p:sp>
      <p:sp>
        <p:nvSpPr>
          <p:cNvPr id="23" name="Text 21"/>
          <p:cNvSpPr/>
          <p:nvPr/>
        </p:nvSpPr>
        <p:spPr>
          <a:xfrm>
            <a:off x="7223760" y="2331720"/>
            <a:ext cx="1463040" cy="347472"/>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T1078</a:t>
            </a:r>
            <a:endParaRPr lang="en-US" sz="1000" dirty="0"/>
          </a:p>
        </p:txBody>
      </p:sp>
      <p:sp>
        <p:nvSpPr>
          <p:cNvPr id="24" name="Text 22"/>
          <p:cNvSpPr/>
          <p:nvPr/>
        </p:nvSpPr>
        <p:spPr>
          <a:xfrm>
            <a:off x="3794760" y="2834640"/>
            <a:ext cx="25603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Click-Through Rate</a:t>
            </a:r>
            <a:endParaRPr lang="en-US" sz="1000" dirty="0"/>
          </a:p>
        </p:txBody>
      </p:sp>
      <p:sp>
        <p:nvSpPr>
          <p:cNvPr id="25" name="Text 23"/>
          <p:cNvSpPr/>
          <p:nvPr/>
        </p:nvSpPr>
        <p:spPr>
          <a:xfrm>
            <a:off x="6492240" y="2834640"/>
            <a:ext cx="640080" cy="347472"/>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15</a:t>
            </a:r>
            <a:endParaRPr lang="en-US" sz="1000" dirty="0"/>
          </a:p>
        </p:txBody>
      </p:sp>
      <p:sp>
        <p:nvSpPr>
          <p:cNvPr id="26" name="Text 24"/>
          <p:cNvSpPr/>
          <p:nvPr/>
        </p:nvSpPr>
        <p:spPr>
          <a:xfrm>
            <a:off x="7223760" y="2834640"/>
            <a:ext cx="1463040" cy="347472"/>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T1078</a:t>
            </a:r>
            <a:endParaRPr lang="en-US" sz="1000" dirty="0"/>
          </a:p>
        </p:txBody>
      </p:sp>
      <p:sp>
        <p:nvSpPr>
          <p:cNvPr id="27" name="Text 25"/>
          <p:cNvSpPr/>
          <p:nvPr/>
        </p:nvSpPr>
        <p:spPr>
          <a:xfrm>
            <a:off x="3794760" y="3337560"/>
            <a:ext cx="25603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Session Timing</a:t>
            </a:r>
            <a:endParaRPr lang="en-US" sz="1000" dirty="0"/>
          </a:p>
        </p:txBody>
      </p:sp>
      <p:sp>
        <p:nvSpPr>
          <p:cNvPr id="28" name="Text 26"/>
          <p:cNvSpPr/>
          <p:nvPr/>
        </p:nvSpPr>
        <p:spPr>
          <a:xfrm>
            <a:off x="6492240" y="3337560"/>
            <a:ext cx="640080" cy="347472"/>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15</a:t>
            </a:r>
            <a:endParaRPr lang="en-US" sz="1000" dirty="0"/>
          </a:p>
        </p:txBody>
      </p:sp>
      <p:sp>
        <p:nvSpPr>
          <p:cNvPr id="29" name="Text 27"/>
          <p:cNvSpPr/>
          <p:nvPr/>
        </p:nvSpPr>
        <p:spPr>
          <a:xfrm>
            <a:off x="7223760" y="3337560"/>
            <a:ext cx="1463040" cy="347472"/>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T1078</a:t>
            </a:r>
            <a:endParaRPr lang="en-US" sz="1000" dirty="0"/>
          </a:p>
        </p:txBody>
      </p:sp>
      <p:sp>
        <p:nvSpPr>
          <p:cNvPr id="30" name="Text 28"/>
          <p:cNvSpPr/>
          <p:nvPr/>
        </p:nvSpPr>
        <p:spPr>
          <a:xfrm>
            <a:off x="3794760" y="3840480"/>
            <a:ext cx="25603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Privilege Escalation</a:t>
            </a:r>
            <a:endParaRPr lang="en-US" sz="1000" dirty="0"/>
          </a:p>
        </p:txBody>
      </p:sp>
      <p:sp>
        <p:nvSpPr>
          <p:cNvPr id="31" name="Text 29"/>
          <p:cNvSpPr/>
          <p:nvPr/>
        </p:nvSpPr>
        <p:spPr>
          <a:xfrm>
            <a:off x="6492240" y="3840480"/>
            <a:ext cx="640080" cy="347472"/>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10</a:t>
            </a:r>
            <a:endParaRPr lang="en-US" sz="1000" dirty="0"/>
          </a:p>
        </p:txBody>
      </p:sp>
      <p:sp>
        <p:nvSpPr>
          <p:cNvPr id="32" name="Text 30"/>
          <p:cNvSpPr/>
          <p:nvPr/>
        </p:nvSpPr>
        <p:spPr>
          <a:xfrm>
            <a:off x="7223760" y="3840480"/>
            <a:ext cx="1463040" cy="347472"/>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T1078</a:t>
            </a:r>
            <a:endParaRPr lang="en-US" sz="1000" dirty="0"/>
          </a:p>
        </p:txBody>
      </p:sp>
      <p:sp>
        <p:nvSpPr>
          <p:cNvPr id="33" name="Text 31"/>
          <p:cNvSpPr/>
          <p:nvPr/>
        </p:nvSpPr>
        <p:spPr>
          <a:xfrm>
            <a:off x="3794760" y="4343400"/>
            <a:ext cx="25603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Data Exfiltration</a:t>
            </a:r>
            <a:endParaRPr lang="en-US" sz="1000" dirty="0"/>
          </a:p>
        </p:txBody>
      </p:sp>
      <p:sp>
        <p:nvSpPr>
          <p:cNvPr id="34" name="Text 32"/>
          <p:cNvSpPr/>
          <p:nvPr/>
        </p:nvSpPr>
        <p:spPr>
          <a:xfrm>
            <a:off x="6492240" y="4343400"/>
            <a:ext cx="640080" cy="347472"/>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10</a:t>
            </a:r>
            <a:endParaRPr lang="en-US" sz="1000" dirty="0"/>
          </a:p>
        </p:txBody>
      </p:sp>
      <p:sp>
        <p:nvSpPr>
          <p:cNvPr id="35" name="Text 33"/>
          <p:cNvSpPr/>
          <p:nvPr/>
        </p:nvSpPr>
        <p:spPr>
          <a:xfrm>
            <a:off x="7223760" y="4343400"/>
            <a:ext cx="1463040" cy="347472"/>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T1041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Results: Anomaly Score Distribution</a:t>
            </a:r>
            <a:endParaRPr lang="en-US" sz="2600" dirty="0"/>
          </a:p>
        </p:txBody>
      </p:sp>
      <p:pic>
        <p:nvPicPr>
          <p:cNvPr id="3" name="Image 0" descr="preencoded.png">    </p:cNvPr>
          <p:cNvPicPr>
            <a:picLocks noChangeAspect="1"/>
          </p:cNvPicPr>
          <p:nvPr/>
        </p:nvPicPr>
        <p:blipFill>
          <a:blip r:embed="rId1"/>
          <a:stretch>
            <a:fillRect/>
          </a:stretch>
        </p:blipFill>
        <p:spPr>
          <a:xfrm>
            <a:off x="274320" y="777240"/>
            <a:ext cx="5943600" cy="3566160"/>
          </a:xfrm>
          <a:prstGeom prst="rect">
            <a:avLst/>
          </a:prstGeom>
        </p:spPr>
      </p:pic>
      <p:sp>
        <p:nvSpPr>
          <p:cNvPr id="4" name="Shape 1"/>
          <p:cNvSpPr/>
          <p:nvPr/>
        </p:nvSpPr>
        <p:spPr>
          <a:xfrm>
            <a:off x="6400800" y="777240"/>
            <a:ext cx="25603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5" name="Text 2"/>
          <p:cNvSpPr/>
          <p:nvPr/>
        </p:nvSpPr>
        <p:spPr>
          <a:xfrm>
            <a:off x="6492240" y="804672"/>
            <a:ext cx="2377440" cy="274320"/>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Normal Events</a:t>
            </a:r>
            <a:endParaRPr lang="en-US" sz="1000" dirty="0"/>
          </a:p>
        </p:txBody>
      </p:sp>
      <p:sp>
        <p:nvSpPr>
          <p:cNvPr id="6" name="Text 3"/>
          <p:cNvSpPr/>
          <p:nvPr/>
        </p:nvSpPr>
        <p:spPr>
          <a:xfrm>
            <a:off x="6492240" y="1078992"/>
            <a:ext cx="2377440" cy="530352"/>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Score -0.40 to -0.55. Dense cluster — many splits to isolate.</a:t>
            </a:r>
            <a:endParaRPr lang="en-US" sz="900" dirty="0"/>
          </a:p>
        </p:txBody>
      </p:sp>
      <p:sp>
        <p:nvSpPr>
          <p:cNvPr id="7" name="Shape 4"/>
          <p:cNvSpPr/>
          <p:nvPr/>
        </p:nvSpPr>
        <p:spPr>
          <a:xfrm>
            <a:off x="6400800" y="1783080"/>
            <a:ext cx="25603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8" name="Text 5"/>
          <p:cNvSpPr/>
          <p:nvPr/>
        </p:nvSpPr>
        <p:spPr>
          <a:xfrm>
            <a:off x="6492240" y="1810512"/>
            <a:ext cx="2377440" cy="274320"/>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Anomalous Events</a:t>
            </a:r>
            <a:endParaRPr lang="en-US" sz="1000" dirty="0"/>
          </a:p>
        </p:txBody>
      </p:sp>
      <p:sp>
        <p:nvSpPr>
          <p:cNvPr id="9" name="Text 6"/>
          <p:cNvSpPr/>
          <p:nvPr/>
        </p:nvSpPr>
        <p:spPr>
          <a:xfrm>
            <a:off x="6492240" y="2084832"/>
            <a:ext cx="2377440" cy="530352"/>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Score below -0.60. Fewer splits — sparse feature space.</a:t>
            </a:r>
            <a:endParaRPr lang="en-US" sz="900" dirty="0"/>
          </a:p>
        </p:txBody>
      </p:sp>
      <p:sp>
        <p:nvSpPr>
          <p:cNvPr id="10" name="Shape 7"/>
          <p:cNvSpPr/>
          <p:nvPr/>
        </p:nvSpPr>
        <p:spPr>
          <a:xfrm>
            <a:off x="6400800" y="2788920"/>
            <a:ext cx="25603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11" name="Text 8"/>
          <p:cNvSpPr/>
          <p:nvPr/>
        </p:nvSpPr>
        <p:spPr>
          <a:xfrm>
            <a:off x="6492240" y="2816352"/>
            <a:ext cx="2377440" cy="274320"/>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Impossible Travel</a:t>
            </a:r>
            <a:endParaRPr lang="en-US" sz="1000" dirty="0"/>
          </a:p>
        </p:txBody>
      </p:sp>
      <p:sp>
        <p:nvSpPr>
          <p:cNvPr id="12" name="Text 9"/>
          <p:cNvSpPr/>
          <p:nvPr/>
        </p:nvSpPr>
        <p:spPr>
          <a:xfrm>
            <a:off x="6492240" y="3090672"/>
            <a:ext cx="2377440" cy="530352"/>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Scores approaching -0.79 — most extreme outliers.</a:t>
            </a:r>
            <a:endParaRPr lang="en-US" sz="900" dirty="0"/>
          </a:p>
        </p:txBody>
      </p:sp>
      <p:sp>
        <p:nvSpPr>
          <p:cNvPr id="13" name="Shape 10"/>
          <p:cNvSpPr/>
          <p:nvPr/>
        </p:nvSpPr>
        <p:spPr>
          <a:xfrm>
            <a:off x="6400800" y="3794760"/>
            <a:ext cx="25603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14" name="Text 11"/>
          <p:cNvSpPr/>
          <p:nvPr/>
        </p:nvSpPr>
        <p:spPr>
          <a:xfrm>
            <a:off x="6492240" y="3822192"/>
            <a:ext cx="2377440" cy="274320"/>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Overlap Region</a:t>
            </a:r>
            <a:endParaRPr lang="en-US" sz="1000" dirty="0"/>
          </a:p>
        </p:txBody>
      </p:sp>
      <p:sp>
        <p:nvSpPr>
          <p:cNvPr id="15" name="Text 12"/>
          <p:cNvSpPr/>
          <p:nvPr/>
        </p:nvSpPr>
        <p:spPr>
          <a:xfrm>
            <a:off x="6492240" y="4096512"/>
            <a:ext cx="2377440" cy="530352"/>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False positives and negatives occur at distribution boundary.</a:t>
            </a:r>
            <a:endParaRPr lang="en-US" sz="900" dirty="0"/>
          </a:p>
        </p:txBody>
      </p:sp>
      <p:sp>
        <p:nvSpPr>
          <p:cNvPr id="16" name="Text 13"/>
          <p:cNvSpPr/>
          <p:nvPr/>
        </p:nvSpPr>
        <p:spPr>
          <a:xfrm>
            <a:off x="365760" y="4892040"/>
            <a:ext cx="8229600" cy="182880"/>
          </a:xfrm>
          <a:prstGeom prst="rect">
            <a:avLst/>
          </a:prstGeom>
          <a:noFill/>
          <a:ln/>
        </p:spPr>
        <p:txBody>
          <a:bodyPr wrap="square" rtlCol="0" anchor="ctr"/>
          <a:lstStyle/>
          <a:p>
            <a:pPr indent="0" marL="0">
              <a:buNone/>
            </a:pPr>
            <a:r>
              <a:rPr lang="en-US" sz="900" i="1" dirty="0">
                <a:solidFill>
                  <a:srgbClr val="94A3B8"/>
                </a:solidFill>
                <a:latin typeface="Arial" pitchFamily="34" charset="0"/>
                <a:ea typeface="Arial" pitchFamily="34" charset="-122"/>
                <a:cs typeface="Arial" pitchFamily="34" charset="-120"/>
              </a:rPr>
              <a:t>sklearn IsolationForest.score_samples() — raw values, more negative = more anomalous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Results: Model Comparison — Isolation Forest vs One-Class SVM</a:t>
            </a:r>
            <a:endParaRPr lang="en-US" sz="2200" dirty="0"/>
          </a:p>
        </p:txBody>
      </p:sp>
      <p:pic>
        <p:nvPicPr>
          <p:cNvPr id="3" name="Image 0" descr="preencoded.png">    </p:cNvPr>
          <p:cNvPicPr>
            <a:picLocks noChangeAspect="1"/>
          </p:cNvPicPr>
          <p:nvPr/>
        </p:nvPicPr>
        <p:blipFill>
          <a:blip r:embed="rId1"/>
          <a:stretch>
            <a:fillRect/>
          </a:stretch>
        </p:blipFill>
        <p:spPr>
          <a:xfrm>
            <a:off x="274320" y="822960"/>
            <a:ext cx="4389120" cy="3108960"/>
          </a:xfrm>
          <a:prstGeom prst="rect">
            <a:avLst/>
          </a:prstGeom>
        </p:spPr>
      </p:pic>
      <p:sp>
        <p:nvSpPr>
          <p:cNvPr id="4" name="Shape 1"/>
          <p:cNvSpPr/>
          <p:nvPr/>
        </p:nvSpPr>
        <p:spPr>
          <a:xfrm>
            <a:off x="4937760" y="822960"/>
            <a:ext cx="39319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5" name="Text 2"/>
          <p:cNvSpPr/>
          <p:nvPr/>
        </p:nvSpPr>
        <p:spPr>
          <a:xfrm>
            <a:off x="5029200" y="850392"/>
            <a:ext cx="1005840" cy="685800"/>
          </a:xfrm>
          <a:prstGeom prst="rect">
            <a:avLst/>
          </a:prstGeom>
          <a:noFill/>
          <a:ln/>
        </p:spPr>
        <p:txBody>
          <a:bodyPr wrap="square" rtlCol="0" anchor="ctr"/>
          <a:lstStyle/>
          <a:p>
            <a:pPr indent="0" marL="0">
              <a:buNone/>
            </a:pPr>
            <a:r>
              <a:rPr lang="en-US" sz="3000" b="1" dirty="0">
                <a:solidFill>
                  <a:srgbClr val="16A34A"/>
                </a:solidFill>
                <a:latin typeface="Cambria" pitchFamily="34" charset="0"/>
                <a:ea typeface="Cambria" pitchFamily="34" charset="-122"/>
                <a:cs typeface="Cambria" pitchFamily="34" charset="-120"/>
              </a:rPr>
              <a:t>97%</a:t>
            </a:r>
            <a:endParaRPr lang="en-US" sz="3000" dirty="0"/>
          </a:p>
        </p:txBody>
      </p:sp>
      <p:sp>
        <p:nvSpPr>
          <p:cNvPr id="6" name="Text 3"/>
          <p:cNvSpPr/>
          <p:nvPr/>
        </p:nvSpPr>
        <p:spPr>
          <a:xfrm>
            <a:off x="6080760" y="877824"/>
            <a:ext cx="2651760" cy="29260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IF Recall</a:t>
            </a:r>
            <a:endParaRPr lang="en-US" sz="1300" dirty="0"/>
          </a:p>
        </p:txBody>
      </p:sp>
      <p:sp>
        <p:nvSpPr>
          <p:cNvPr id="7" name="Text 4"/>
          <p:cNvSpPr/>
          <p:nvPr/>
        </p:nvSpPr>
        <p:spPr>
          <a:xfrm>
            <a:off x="6080760" y="1188720"/>
            <a:ext cx="2651760" cy="292608"/>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97 of 100 anomalies caught</a:t>
            </a:r>
            <a:endParaRPr lang="en-US" sz="1000" dirty="0"/>
          </a:p>
        </p:txBody>
      </p:sp>
      <p:sp>
        <p:nvSpPr>
          <p:cNvPr id="8" name="Shape 5"/>
          <p:cNvSpPr/>
          <p:nvPr/>
        </p:nvSpPr>
        <p:spPr>
          <a:xfrm>
            <a:off x="4937760" y="1828800"/>
            <a:ext cx="39319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9" name="Text 6"/>
          <p:cNvSpPr/>
          <p:nvPr/>
        </p:nvSpPr>
        <p:spPr>
          <a:xfrm>
            <a:off x="5029200" y="1856232"/>
            <a:ext cx="1005840" cy="685800"/>
          </a:xfrm>
          <a:prstGeom prst="rect">
            <a:avLst/>
          </a:prstGeom>
          <a:noFill/>
          <a:ln/>
        </p:spPr>
        <p:txBody>
          <a:bodyPr wrap="square" rtlCol="0" anchor="ctr"/>
          <a:lstStyle/>
          <a:p>
            <a:pPr indent="0" marL="0">
              <a:buNone/>
            </a:pPr>
            <a:r>
              <a:rPr lang="en-US" sz="3000" b="1" dirty="0">
                <a:solidFill>
                  <a:srgbClr val="3B82F6"/>
                </a:solidFill>
                <a:latin typeface="Cambria" pitchFamily="34" charset="0"/>
                <a:ea typeface="Cambria" pitchFamily="34" charset="-122"/>
                <a:cs typeface="Cambria" pitchFamily="34" charset="-120"/>
              </a:rPr>
              <a:t>94%</a:t>
            </a:r>
            <a:endParaRPr lang="en-US" sz="3000" dirty="0"/>
          </a:p>
        </p:txBody>
      </p:sp>
      <p:sp>
        <p:nvSpPr>
          <p:cNvPr id="10" name="Text 7"/>
          <p:cNvSpPr/>
          <p:nvPr/>
        </p:nvSpPr>
        <p:spPr>
          <a:xfrm>
            <a:off x="6080760" y="1883664"/>
            <a:ext cx="2651760" cy="29260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IF Precision</a:t>
            </a:r>
            <a:endParaRPr lang="en-US" sz="1300" dirty="0"/>
          </a:p>
        </p:txBody>
      </p:sp>
      <p:sp>
        <p:nvSpPr>
          <p:cNvPr id="11" name="Text 8"/>
          <p:cNvSpPr/>
          <p:nvPr/>
        </p:nvSpPr>
        <p:spPr>
          <a:xfrm>
            <a:off x="6080760" y="2194560"/>
            <a:ext cx="2651760" cy="292608"/>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Only 6 false positives</a:t>
            </a:r>
            <a:endParaRPr lang="en-US" sz="1000" dirty="0"/>
          </a:p>
        </p:txBody>
      </p:sp>
      <p:sp>
        <p:nvSpPr>
          <p:cNvPr id="12" name="Shape 9"/>
          <p:cNvSpPr/>
          <p:nvPr/>
        </p:nvSpPr>
        <p:spPr>
          <a:xfrm>
            <a:off x="4937760" y="2834640"/>
            <a:ext cx="39319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13" name="Text 10"/>
          <p:cNvSpPr/>
          <p:nvPr/>
        </p:nvSpPr>
        <p:spPr>
          <a:xfrm>
            <a:off x="5029200" y="2862072"/>
            <a:ext cx="1005840" cy="685800"/>
          </a:xfrm>
          <a:prstGeom prst="rect">
            <a:avLst/>
          </a:prstGeom>
          <a:noFill/>
          <a:ln/>
        </p:spPr>
        <p:txBody>
          <a:bodyPr wrap="square"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84%</a:t>
            </a:r>
            <a:endParaRPr lang="en-US" sz="3000" dirty="0"/>
          </a:p>
        </p:txBody>
      </p:sp>
      <p:sp>
        <p:nvSpPr>
          <p:cNvPr id="14" name="Text 11"/>
          <p:cNvSpPr/>
          <p:nvPr/>
        </p:nvSpPr>
        <p:spPr>
          <a:xfrm>
            <a:off x="6080760" y="2889504"/>
            <a:ext cx="2651760" cy="29260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SVM Recall</a:t>
            </a:r>
            <a:endParaRPr lang="en-US" sz="1300" dirty="0"/>
          </a:p>
        </p:txBody>
      </p:sp>
      <p:sp>
        <p:nvSpPr>
          <p:cNvPr id="15" name="Text 12"/>
          <p:cNvSpPr/>
          <p:nvPr/>
        </p:nvSpPr>
        <p:spPr>
          <a:xfrm>
            <a:off x="6080760" y="3200400"/>
            <a:ext cx="2651760" cy="292608"/>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84 of 100 anomalies caught</a:t>
            </a:r>
            <a:endParaRPr lang="en-US" sz="1000" dirty="0"/>
          </a:p>
        </p:txBody>
      </p:sp>
      <p:sp>
        <p:nvSpPr>
          <p:cNvPr id="16" name="Shape 13"/>
          <p:cNvSpPr/>
          <p:nvPr/>
        </p:nvSpPr>
        <p:spPr>
          <a:xfrm>
            <a:off x="4937760" y="3840480"/>
            <a:ext cx="39319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17" name="Text 14"/>
          <p:cNvSpPr/>
          <p:nvPr/>
        </p:nvSpPr>
        <p:spPr>
          <a:xfrm>
            <a:off x="5029200" y="3867912"/>
            <a:ext cx="1005840" cy="685800"/>
          </a:xfrm>
          <a:prstGeom prst="rect">
            <a:avLst/>
          </a:prstGeom>
          <a:noFill/>
          <a:ln/>
        </p:spPr>
        <p:txBody>
          <a:bodyPr wrap="square" rtlCol="0" anchor="ctr"/>
          <a:lstStyle/>
          <a:p>
            <a:pPr indent="0" marL="0">
              <a:buNone/>
            </a:pPr>
            <a:r>
              <a:rPr lang="en-US" sz="3000" b="1" dirty="0">
                <a:solidFill>
                  <a:srgbClr val="EF4444"/>
                </a:solidFill>
                <a:latin typeface="Cambria" pitchFamily="34" charset="0"/>
                <a:ea typeface="Cambria" pitchFamily="34" charset="-122"/>
                <a:cs typeface="Cambria" pitchFamily="34" charset="-120"/>
              </a:rPr>
              <a:t>83%</a:t>
            </a:r>
            <a:endParaRPr lang="en-US" sz="3000" dirty="0"/>
          </a:p>
        </p:txBody>
      </p:sp>
      <p:sp>
        <p:nvSpPr>
          <p:cNvPr id="18" name="Text 15"/>
          <p:cNvSpPr/>
          <p:nvPr/>
        </p:nvSpPr>
        <p:spPr>
          <a:xfrm>
            <a:off x="6080760" y="3895344"/>
            <a:ext cx="2651760" cy="29260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SVM Precision</a:t>
            </a:r>
            <a:endParaRPr lang="en-US" sz="1300" dirty="0"/>
          </a:p>
        </p:txBody>
      </p:sp>
      <p:sp>
        <p:nvSpPr>
          <p:cNvPr id="19" name="Text 16"/>
          <p:cNvSpPr/>
          <p:nvPr/>
        </p:nvSpPr>
        <p:spPr>
          <a:xfrm>
            <a:off x="6080760" y="4206240"/>
            <a:ext cx="2651760" cy="292608"/>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17 false positives</a:t>
            </a:r>
            <a:endParaRPr lang="en-US" sz="1000" dirty="0"/>
          </a:p>
        </p:txBody>
      </p:sp>
      <p:sp>
        <p:nvSpPr>
          <p:cNvPr id="20" name="Text 17"/>
          <p:cNvSpPr/>
          <p:nvPr/>
        </p:nvSpPr>
        <p:spPr>
          <a:xfrm>
            <a:off x="365760" y="4846320"/>
            <a:ext cx="8412480" cy="228600"/>
          </a:xfrm>
          <a:prstGeom prst="rect">
            <a:avLst/>
          </a:prstGeom>
          <a:noFill/>
          <a:ln/>
        </p:spPr>
        <p:txBody>
          <a:bodyPr wrap="square" rtlCol="0" anchor="ctr"/>
          <a:lstStyle/>
          <a:p>
            <a:pPr indent="0" marL="0">
              <a:buNone/>
            </a:pPr>
            <a:r>
              <a:rPr lang="en-US" sz="1000" i="1" dirty="0">
                <a:solidFill>
                  <a:srgbClr val="64748B"/>
                </a:solidFill>
                <a:latin typeface="Arial" pitchFamily="34" charset="0"/>
                <a:ea typeface="Arial" pitchFamily="34" charset="-122"/>
                <a:cs typeface="Arial" pitchFamily="34" charset="-120"/>
              </a:rPr>
              <a:t>Isolation Forest outperforms One-Class SVM on this dataset. Consistent with literature: IF is more robust on multimodal behavioral data.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Results: Per-Signal Detection — Each Anomaly Type Isolated</a:t>
            </a:r>
            <a:endParaRPr lang="en-US" sz="2400" dirty="0"/>
          </a:p>
        </p:txBody>
      </p:sp>
      <p:pic>
        <p:nvPicPr>
          <p:cNvPr id="3" name="Image 0" descr="preencoded.png">    </p:cNvPr>
          <p:cNvPicPr>
            <a:picLocks noChangeAspect="1"/>
          </p:cNvPicPr>
          <p:nvPr/>
        </p:nvPicPr>
        <p:blipFill>
          <a:blip r:embed="rId1"/>
          <a:stretch>
            <a:fillRect/>
          </a:stretch>
        </p:blipFill>
        <p:spPr>
          <a:xfrm>
            <a:off x="274320" y="777240"/>
            <a:ext cx="8595360" cy="4251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Results: Composite Risk Score by Anomaly Type</a:t>
            </a:r>
            <a:endParaRPr lang="en-US" sz="2600" dirty="0"/>
          </a:p>
        </p:txBody>
      </p:sp>
      <p:pic>
        <p:nvPicPr>
          <p:cNvPr id="3" name="Image 0" descr="preencoded.png">    </p:cNvPr>
          <p:cNvPicPr>
            <a:picLocks noChangeAspect="1"/>
          </p:cNvPicPr>
          <p:nvPr/>
        </p:nvPicPr>
        <p:blipFill>
          <a:blip r:embed="rId1"/>
          <a:stretch>
            <a:fillRect/>
          </a:stretch>
        </p:blipFill>
        <p:spPr>
          <a:xfrm>
            <a:off x="274320" y="777240"/>
            <a:ext cx="6400800" cy="3657600"/>
          </a:xfrm>
          <a:prstGeom prst="rect">
            <a:avLst/>
          </a:prstGeom>
        </p:spPr>
      </p:pic>
      <p:sp>
        <p:nvSpPr>
          <p:cNvPr id="4" name="Shape 1"/>
          <p:cNvSpPr/>
          <p:nvPr/>
        </p:nvSpPr>
        <p:spPr>
          <a:xfrm>
            <a:off x="6858000" y="777240"/>
            <a:ext cx="2103120" cy="3657600"/>
          </a:xfrm>
          <a:prstGeom prst="roundRect">
            <a:avLst>
              <a:gd name="adj" fmla="val 4348"/>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5" name="Text 2"/>
          <p:cNvSpPr/>
          <p:nvPr/>
        </p:nvSpPr>
        <p:spPr>
          <a:xfrm>
            <a:off x="6949440" y="868680"/>
            <a:ext cx="192024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Risk Score Formula</a:t>
            </a:r>
            <a:endParaRPr lang="en-US" sz="1100" dirty="0"/>
          </a:p>
        </p:txBody>
      </p:sp>
      <p:sp>
        <p:nvSpPr>
          <p:cNvPr id="6" name="Text 3"/>
          <p:cNvSpPr/>
          <p:nvPr/>
        </p:nvSpPr>
        <p:spPr>
          <a:xfrm>
            <a:off x="6949440" y="1280160"/>
            <a:ext cx="1920240" cy="2011680"/>
          </a:xfrm>
          <a:prstGeom prst="rect">
            <a:avLst/>
          </a:prstGeom>
          <a:noFill/>
          <a:ln/>
        </p:spPr>
        <p:txBody>
          <a:bodyPr wrap="square"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IF Score (normalized)</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0.50</a:t>
            </a:r>
            <a:endParaRPr lang="en-US" sz="1000" dirty="0"/>
          </a:p>
          <a:p>
            <a:pPr indent="0" marL="0">
              <a:buNone/>
            </a:pP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IF Binary</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0.25</a:t>
            </a:r>
            <a:endParaRPr lang="en-US" sz="1000" dirty="0"/>
          </a:p>
          <a:p>
            <a:pPr indent="0" marL="0">
              <a:buNone/>
            </a:pP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SVM Binary</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0.25</a:t>
            </a:r>
            <a:endParaRPr lang="en-US" sz="1000" dirty="0"/>
          </a:p>
        </p:txBody>
      </p:sp>
      <p:sp>
        <p:nvSpPr>
          <p:cNvPr id="7" name="Text 4"/>
          <p:cNvSpPr/>
          <p:nvPr/>
        </p:nvSpPr>
        <p:spPr>
          <a:xfrm>
            <a:off x="6949440" y="3291840"/>
            <a:ext cx="1920240" cy="914400"/>
          </a:xfrm>
          <a:prstGeom prst="rect">
            <a:avLst/>
          </a:prstGeom>
          <a:noFill/>
          <a:ln/>
        </p:spPr>
        <p:txBody>
          <a:bodyPr wrap="square" rtlCol="0" anchor="ctr"/>
          <a:lstStyle/>
          <a:p>
            <a:pPr indent="0" marL="0">
              <a:buNone/>
            </a:pPr>
            <a:r>
              <a:rPr lang="en-US" sz="900" i="1" dirty="0">
                <a:solidFill>
                  <a:srgbClr val="94A3B8"/>
                </a:solidFill>
                <a:latin typeface="Arial" pitchFamily="34" charset="0"/>
                <a:ea typeface="Arial" pitchFamily="34" charset="-122"/>
                <a:cs typeface="Arial" pitchFamily="34" charset="-120"/>
              </a:rPr>
              <a:t>Continuous signal</a:t>
            </a:r>
            <a:endParaRPr lang="en-US" sz="900" dirty="0"/>
          </a:p>
          <a:p>
            <a:pPr indent="0" marL="0">
              <a:buNone/>
            </a:pPr>
            <a:r>
              <a:rPr lang="en-US" sz="900" i="1" dirty="0">
                <a:solidFill>
                  <a:srgbClr val="94A3B8"/>
                </a:solidFill>
                <a:latin typeface="Arial" pitchFamily="34" charset="0"/>
                <a:ea typeface="Arial" pitchFamily="34" charset="-122"/>
                <a:cs typeface="Arial" pitchFamily="34" charset="-120"/>
              </a:rPr>
              <a:t>weighted 2x over</a:t>
            </a:r>
            <a:endParaRPr lang="en-US" sz="900" dirty="0"/>
          </a:p>
          <a:p>
            <a:pPr indent="0" marL="0">
              <a:buNone/>
            </a:pPr>
            <a:r>
              <a:rPr lang="en-US" sz="900" i="1" dirty="0">
                <a:solidFill>
                  <a:srgbClr val="94A3B8"/>
                </a:solidFill>
                <a:latin typeface="Arial" pitchFamily="34" charset="0"/>
                <a:ea typeface="Arial" pitchFamily="34" charset="-122"/>
                <a:cs typeface="Arial" pitchFamily="34" charset="-120"/>
              </a:rPr>
              <a:t>binary predictions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ATT&amp;CK Taxonomy — Every Detection Tagged</a:t>
            </a:r>
            <a:endParaRPr lang="en-US" sz="26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200" i="1" dirty="0">
                <a:solidFill>
                  <a:srgbClr val="CADCFC"/>
                </a:solidFill>
                <a:latin typeface="Arial" pitchFamily="34" charset="0"/>
                <a:ea typeface="Arial" pitchFamily="34" charset="-122"/>
                <a:cs typeface="Arial" pitchFamily="34" charset="-120"/>
              </a:rPr>
              <a:t>Each event in the output CSV carries a formal MITRE ATT&amp;CK technique ID, enabling coverage gap analysis and alignment with enterprise detection frameworks.</a:t>
            </a:r>
            <a:endParaRPr lang="en-US" sz="1200" dirty="0"/>
          </a:p>
        </p:txBody>
      </p:sp>
      <p:sp>
        <p:nvSpPr>
          <p:cNvPr id="4" name="Shape 2"/>
          <p:cNvSpPr/>
          <p:nvPr/>
        </p:nvSpPr>
        <p:spPr>
          <a:xfrm>
            <a:off x="274320" y="1371600"/>
            <a:ext cx="8595360" cy="1737360"/>
          </a:xfrm>
          <a:prstGeom prst="roundRect">
            <a:avLst>
              <a:gd name="adj" fmla="val 5263"/>
            </a:avLst>
          </a:prstGeom>
          <a:solidFill>
            <a:srgbClr val="1E3A5F"/>
          </a:solidFill>
          <a:ln w="12700">
            <a:solidFill>
              <a:srgbClr val="1E3A5F"/>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411480" y="1444752"/>
            <a:ext cx="1097280" cy="411480"/>
          </a:xfrm>
          <a:prstGeom prst="rect">
            <a:avLst/>
          </a:prstGeom>
          <a:noFill/>
          <a:ln/>
        </p:spPr>
        <p:txBody>
          <a:bodyPr wrap="square" rtlCol="0" anchor="ctr"/>
          <a:lstStyle/>
          <a:p>
            <a:pPr indent="0" marL="0">
              <a:buNone/>
            </a:pPr>
            <a:r>
              <a:rPr lang="en-US" sz="1800" b="1" dirty="0">
                <a:solidFill>
                  <a:srgbClr val="3B82F6"/>
                </a:solidFill>
                <a:latin typeface="Courier New" pitchFamily="34" charset="0"/>
                <a:ea typeface="Courier New" pitchFamily="34" charset="-122"/>
                <a:cs typeface="Courier New" pitchFamily="34" charset="-120"/>
              </a:rPr>
              <a:t>T1078</a:t>
            </a:r>
            <a:endParaRPr lang="en-US" sz="1800" dirty="0"/>
          </a:p>
        </p:txBody>
      </p:sp>
      <p:sp>
        <p:nvSpPr>
          <p:cNvPr id="6" name="Text 4"/>
          <p:cNvSpPr/>
          <p:nvPr/>
        </p:nvSpPr>
        <p:spPr>
          <a:xfrm>
            <a:off x="1600200" y="1463040"/>
            <a:ext cx="4572000" cy="365760"/>
          </a:xfrm>
          <a:prstGeom prst="rect">
            <a:avLst/>
          </a:prstGeom>
          <a:noFill/>
          <a:ln/>
        </p:spPr>
        <p:txBody>
          <a:bodyPr wrap="square" rtlCol="0" anchor="ctr"/>
          <a:lstStyle/>
          <a:p>
            <a:pPr indent="0" marL="0">
              <a:buNone/>
            </a:pPr>
            <a:r>
              <a:rPr lang="en-US" sz="1400" b="1" dirty="0">
                <a:solidFill>
                  <a:srgbClr val="CADCFC"/>
                </a:solidFill>
                <a:latin typeface="Arial" pitchFamily="34" charset="0"/>
                <a:ea typeface="Arial" pitchFamily="34" charset="-122"/>
                <a:cs typeface="Arial" pitchFamily="34" charset="-120"/>
              </a:rPr>
              <a:t>Valid Accounts</a:t>
            </a:r>
            <a:endParaRPr lang="en-US" sz="1400" dirty="0"/>
          </a:p>
        </p:txBody>
      </p:sp>
      <p:sp>
        <p:nvSpPr>
          <p:cNvPr id="7" name="Text 5"/>
          <p:cNvSpPr/>
          <p:nvPr/>
        </p:nvSpPr>
        <p:spPr>
          <a:xfrm>
            <a:off x="411480" y="1920240"/>
            <a:ext cx="822960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Signals: Impossible Travel · Typing Speed · Click-Through Rate · Session Timing · Privilege Escalation</a:t>
            </a:r>
            <a:endParaRPr lang="en-US" sz="1000" dirty="0"/>
          </a:p>
        </p:txBody>
      </p:sp>
      <p:sp>
        <p:nvSpPr>
          <p:cNvPr id="8" name="Text 6"/>
          <p:cNvSpPr/>
          <p:nvPr/>
        </p:nvSpPr>
        <p:spPr>
          <a:xfrm>
            <a:off x="411480" y="2240280"/>
            <a:ext cx="8229600" cy="64008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Adversaries obtain and abuse legitimate credentials to gain access. All behavioral biometric and geospatial signals map here.</a:t>
            </a:r>
            <a:endParaRPr lang="en-US" sz="1000" dirty="0"/>
          </a:p>
        </p:txBody>
      </p:sp>
      <p:sp>
        <p:nvSpPr>
          <p:cNvPr id="9" name="Shape 7"/>
          <p:cNvSpPr/>
          <p:nvPr/>
        </p:nvSpPr>
        <p:spPr>
          <a:xfrm>
            <a:off x="274320" y="3291840"/>
            <a:ext cx="8595360" cy="1737360"/>
          </a:xfrm>
          <a:prstGeom prst="roundRect">
            <a:avLst>
              <a:gd name="adj" fmla="val 5263"/>
            </a:avLst>
          </a:prstGeom>
          <a:solidFill>
            <a:srgbClr val="1E3A5F"/>
          </a:solidFill>
          <a:ln w="12700">
            <a:solidFill>
              <a:srgbClr val="1E3A5F"/>
            </a:solidFill>
            <a:prstDash val="solid"/>
          </a:ln>
          <a:effectLst>
            <a:outerShdw sx="100000" sy="100000" kx="0" ky="0" algn="bl" rotWithShape="0" blurRad="101600" dist="38100" dir="2700000">
              <a:srgbClr val="000000">
                <a:alpha val="18000"/>
              </a:srgbClr>
            </a:outerShdw>
          </a:effectLst>
        </p:spPr>
      </p:sp>
      <p:sp>
        <p:nvSpPr>
          <p:cNvPr id="10" name="Text 8"/>
          <p:cNvSpPr/>
          <p:nvPr/>
        </p:nvSpPr>
        <p:spPr>
          <a:xfrm>
            <a:off x="411480" y="3364992"/>
            <a:ext cx="1097280" cy="411480"/>
          </a:xfrm>
          <a:prstGeom prst="rect">
            <a:avLst/>
          </a:prstGeom>
          <a:noFill/>
          <a:ln/>
        </p:spPr>
        <p:txBody>
          <a:bodyPr wrap="square" rtlCol="0" anchor="ctr"/>
          <a:lstStyle/>
          <a:p>
            <a:pPr indent="0" marL="0">
              <a:buNone/>
            </a:pPr>
            <a:r>
              <a:rPr lang="en-US" sz="1800" b="1" dirty="0">
                <a:solidFill>
                  <a:srgbClr val="3B82F6"/>
                </a:solidFill>
                <a:latin typeface="Courier New" pitchFamily="34" charset="0"/>
                <a:ea typeface="Courier New" pitchFamily="34" charset="-122"/>
                <a:cs typeface="Courier New" pitchFamily="34" charset="-120"/>
              </a:rPr>
              <a:t>T1041</a:t>
            </a:r>
            <a:endParaRPr lang="en-US" sz="1800" dirty="0"/>
          </a:p>
        </p:txBody>
      </p:sp>
      <p:sp>
        <p:nvSpPr>
          <p:cNvPr id="11" name="Text 9"/>
          <p:cNvSpPr/>
          <p:nvPr/>
        </p:nvSpPr>
        <p:spPr>
          <a:xfrm>
            <a:off x="1600200" y="3383280"/>
            <a:ext cx="4572000" cy="365760"/>
          </a:xfrm>
          <a:prstGeom prst="rect">
            <a:avLst/>
          </a:prstGeom>
          <a:noFill/>
          <a:ln/>
        </p:spPr>
        <p:txBody>
          <a:bodyPr wrap="square" rtlCol="0" anchor="ctr"/>
          <a:lstStyle/>
          <a:p>
            <a:pPr indent="0" marL="0">
              <a:buNone/>
            </a:pPr>
            <a:r>
              <a:rPr lang="en-US" sz="1400" b="1" dirty="0">
                <a:solidFill>
                  <a:srgbClr val="CADCFC"/>
                </a:solidFill>
                <a:latin typeface="Arial" pitchFamily="34" charset="0"/>
                <a:ea typeface="Arial" pitchFamily="34" charset="-122"/>
                <a:cs typeface="Arial" pitchFamily="34" charset="-120"/>
              </a:rPr>
              <a:t>Exfiltration Over C2 Channel</a:t>
            </a:r>
            <a:endParaRPr lang="en-US" sz="1400" dirty="0"/>
          </a:p>
        </p:txBody>
      </p:sp>
      <p:sp>
        <p:nvSpPr>
          <p:cNvPr id="12" name="Text 10"/>
          <p:cNvSpPr/>
          <p:nvPr/>
        </p:nvSpPr>
        <p:spPr>
          <a:xfrm>
            <a:off x="411480" y="3840480"/>
            <a:ext cx="822960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Signals: Data Exfiltration</a:t>
            </a:r>
            <a:endParaRPr lang="en-US" sz="1000" dirty="0"/>
          </a:p>
        </p:txBody>
      </p:sp>
      <p:sp>
        <p:nvSpPr>
          <p:cNvPr id="13" name="Text 11"/>
          <p:cNvSpPr/>
          <p:nvPr/>
        </p:nvSpPr>
        <p:spPr>
          <a:xfrm>
            <a:off x="411480" y="4160520"/>
            <a:ext cx="8229600" cy="64008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Adversaries steal data by exfiltrating it over an existing command and control channel. Detected via abnormal transfer volume.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Limitations &amp; Production Considerations</a:t>
            </a:r>
            <a:endParaRPr lang="en-US" sz="2600" dirty="0"/>
          </a:p>
        </p:txBody>
      </p:sp>
      <p:sp>
        <p:nvSpPr>
          <p:cNvPr id="3" name="Shape 1"/>
          <p:cNvSpPr/>
          <p:nvPr/>
        </p:nvSpPr>
        <p:spPr>
          <a:xfrm>
            <a:off x="274320" y="914400"/>
            <a:ext cx="2743200" cy="1691640"/>
          </a:xfrm>
          <a:prstGeom prst="roundRect">
            <a:avLst>
              <a:gd name="adj" fmla="val 5405"/>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4" name="Text 2"/>
          <p:cNvSpPr/>
          <p:nvPr/>
        </p:nvSpPr>
        <p:spPr>
          <a:xfrm>
            <a:off x="365760" y="98755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01</a:t>
            </a:r>
            <a:endParaRPr lang="en-US" sz="1100" dirty="0"/>
          </a:p>
        </p:txBody>
      </p:sp>
      <p:sp>
        <p:nvSpPr>
          <p:cNvPr id="5" name="Text 3"/>
          <p:cNvSpPr/>
          <p:nvPr/>
        </p:nvSpPr>
        <p:spPr>
          <a:xfrm>
            <a:off x="365760" y="1325880"/>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Synthetic Data</a:t>
            </a:r>
            <a:endParaRPr lang="en-US" sz="1100" dirty="0"/>
          </a:p>
        </p:txBody>
      </p:sp>
      <p:sp>
        <p:nvSpPr>
          <p:cNvPr id="6" name="Text 4"/>
          <p:cNvSpPr/>
          <p:nvPr/>
        </p:nvSpPr>
        <p:spPr>
          <a:xfrm>
            <a:off x="365760" y="1664208"/>
            <a:ext cx="2560320"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Performance metrics are inflated by clean distributional separation. Real telemetry has correlated noise and behavioral drift.</a:t>
            </a:r>
            <a:endParaRPr lang="en-US" sz="950" dirty="0"/>
          </a:p>
        </p:txBody>
      </p:sp>
      <p:sp>
        <p:nvSpPr>
          <p:cNvPr id="7" name="Shape 5"/>
          <p:cNvSpPr/>
          <p:nvPr/>
        </p:nvSpPr>
        <p:spPr>
          <a:xfrm>
            <a:off x="3200400" y="914400"/>
            <a:ext cx="2743200" cy="1691640"/>
          </a:xfrm>
          <a:prstGeom prst="roundRect">
            <a:avLst>
              <a:gd name="adj" fmla="val 5405"/>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3291840" y="98755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02</a:t>
            </a:r>
            <a:endParaRPr lang="en-US" sz="1100" dirty="0"/>
          </a:p>
        </p:txBody>
      </p:sp>
      <p:sp>
        <p:nvSpPr>
          <p:cNvPr id="9" name="Text 7"/>
          <p:cNvSpPr/>
          <p:nvPr/>
        </p:nvSpPr>
        <p:spPr>
          <a:xfrm>
            <a:off x="3291840" y="1325880"/>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Population-Level Baseline</a:t>
            </a:r>
            <a:endParaRPr lang="en-US" sz="1100" dirty="0"/>
          </a:p>
        </p:txBody>
      </p:sp>
      <p:sp>
        <p:nvSpPr>
          <p:cNvPr id="10" name="Text 8"/>
          <p:cNvSpPr/>
          <p:nvPr/>
        </p:nvSpPr>
        <p:spPr>
          <a:xfrm>
            <a:off x="3291840" y="1664208"/>
            <a:ext cx="2560320"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A production system needs per-user behavioral baselines. A 3 AM login is normal for an overnight analyst.</a:t>
            </a:r>
            <a:endParaRPr lang="en-US" sz="950" dirty="0"/>
          </a:p>
        </p:txBody>
      </p:sp>
      <p:sp>
        <p:nvSpPr>
          <p:cNvPr id="11" name="Shape 9"/>
          <p:cNvSpPr/>
          <p:nvPr/>
        </p:nvSpPr>
        <p:spPr>
          <a:xfrm>
            <a:off x="6126480" y="914400"/>
            <a:ext cx="2743200" cy="1691640"/>
          </a:xfrm>
          <a:prstGeom prst="roundRect">
            <a:avLst>
              <a:gd name="adj" fmla="val 5405"/>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6217920" y="98755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03</a:t>
            </a:r>
            <a:endParaRPr lang="en-US" sz="1100" dirty="0"/>
          </a:p>
        </p:txBody>
      </p:sp>
      <p:sp>
        <p:nvSpPr>
          <p:cNvPr id="13" name="Text 11"/>
          <p:cNvSpPr/>
          <p:nvPr/>
        </p:nvSpPr>
        <p:spPr>
          <a:xfrm>
            <a:off x="6217920" y="1325880"/>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Static Contamination</a:t>
            </a:r>
            <a:endParaRPr lang="en-US" sz="1100" dirty="0"/>
          </a:p>
        </p:txBody>
      </p:sp>
      <p:sp>
        <p:nvSpPr>
          <p:cNvPr id="14" name="Text 12"/>
          <p:cNvSpPr/>
          <p:nvPr/>
        </p:nvSpPr>
        <p:spPr>
          <a:xfrm>
            <a:off x="6217920" y="1664208"/>
            <a:ext cx="2560320"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True anomaly rate is unknown in production. Requires adaptive estimation, not a fixed parameter.</a:t>
            </a:r>
            <a:endParaRPr lang="en-US" sz="950" dirty="0"/>
          </a:p>
        </p:txBody>
      </p:sp>
      <p:sp>
        <p:nvSpPr>
          <p:cNvPr id="15" name="Shape 13"/>
          <p:cNvSpPr/>
          <p:nvPr/>
        </p:nvSpPr>
        <p:spPr>
          <a:xfrm>
            <a:off x="274320" y="2834640"/>
            <a:ext cx="2743200" cy="1691640"/>
          </a:xfrm>
          <a:prstGeom prst="roundRect">
            <a:avLst>
              <a:gd name="adj" fmla="val 5405"/>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365760" y="290779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04</a:t>
            </a:r>
            <a:endParaRPr lang="en-US" sz="1100" dirty="0"/>
          </a:p>
        </p:txBody>
      </p:sp>
      <p:sp>
        <p:nvSpPr>
          <p:cNvPr id="17" name="Text 15"/>
          <p:cNvSpPr/>
          <p:nvPr/>
        </p:nvSpPr>
        <p:spPr>
          <a:xfrm>
            <a:off x="365760" y="3246120"/>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No Temporal Model</a:t>
            </a:r>
            <a:endParaRPr lang="en-US" sz="1100" dirty="0"/>
          </a:p>
        </p:txBody>
      </p:sp>
      <p:sp>
        <p:nvSpPr>
          <p:cNvPr id="18" name="Text 16"/>
          <p:cNvSpPr/>
          <p:nvPr/>
        </p:nvSpPr>
        <p:spPr>
          <a:xfrm>
            <a:off x="365760" y="3584448"/>
            <a:ext cx="2560320"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Isolation Forest treats each event independently. Production needs session-level sequence modeling.</a:t>
            </a:r>
            <a:endParaRPr lang="en-US" sz="950" dirty="0"/>
          </a:p>
        </p:txBody>
      </p:sp>
      <p:sp>
        <p:nvSpPr>
          <p:cNvPr id="19" name="Shape 17"/>
          <p:cNvSpPr/>
          <p:nvPr/>
        </p:nvSpPr>
        <p:spPr>
          <a:xfrm>
            <a:off x="3200400" y="2834640"/>
            <a:ext cx="2743200" cy="1691640"/>
          </a:xfrm>
          <a:prstGeom prst="roundRect">
            <a:avLst>
              <a:gd name="adj" fmla="val 5405"/>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20" name="Text 18"/>
          <p:cNvSpPr/>
          <p:nvPr/>
        </p:nvSpPr>
        <p:spPr>
          <a:xfrm>
            <a:off x="3291840" y="290779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05</a:t>
            </a:r>
            <a:endParaRPr lang="en-US" sz="1100" dirty="0"/>
          </a:p>
        </p:txBody>
      </p:sp>
      <p:sp>
        <p:nvSpPr>
          <p:cNvPr id="21" name="Text 19"/>
          <p:cNvSpPr/>
          <p:nvPr/>
        </p:nvSpPr>
        <p:spPr>
          <a:xfrm>
            <a:off x="3291840" y="3246120"/>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No Held-Out Test Set</a:t>
            </a:r>
            <a:endParaRPr lang="en-US" sz="1100" dirty="0"/>
          </a:p>
        </p:txBody>
      </p:sp>
      <p:sp>
        <p:nvSpPr>
          <p:cNvPr id="22" name="Text 20"/>
          <p:cNvSpPr/>
          <p:nvPr/>
        </p:nvSpPr>
        <p:spPr>
          <a:xfrm>
            <a:off x="3291840" y="3584448"/>
            <a:ext cx="2560320"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Both models evaluated on training data. Cross-validation would provide more conservative estimates.</a:t>
            </a:r>
            <a:endParaRPr lang="en-US" sz="950" dirty="0"/>
          </a:p>
        </p:txBody>
      </p:sp>
      <p:sp>
        <p:nvSpPr>
          <p:cNvPr id="23" name="Shape 21"/>
          <p:cNvSpPr/>
          <p:nvPr/>
        </p:nvSpPr>
        <p:spPr>
          <a:xfrm>
            <a:off x="6126480" y="2834640"/>
            <a:ext cx="2743200" cy="1691640"/>
          </a:xfrm>
          <a:prstGeom prst="roundRect">
            <a:avLst>
              <a:gd name="adj" fmla="val 5405"/>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24" name="Text 22"/>
          <p:cNvSpPr/>
          <p:nvPr/>
        </p:nvSpPr>
        <p:spPr>
          <a:xfrm>
            <a:off x="6217920" y="290779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06</a:t>
            </a:r>
            <a:endParaRPr lang="en-US" sz="1100" dirty="0"/>
          </a:p>
        </p:txBody>
      </p:sp>
      <p:sp>
        <p:nvSpPr>
          <p:cNvPr id="25" name="Text 23"/>
          <p:cNvSpPr/>
          <p:nvPr/>
        </p:nvSpPr>
        <p:spPr>
          <a:xfrm>
            <a:off x="6217920" y="3246120"/>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Feature Set Scope</a:t>
            </a:r>
            <a:endParaRPr lang="en-US" sz="1100" dirty="0"/>
          </a:p>
        </p:txBody>
      </p:sp>
      <p:sp>
        <p:nvSpPr>
          <p:cNvPr id="26" name="Text 24"/>
          <p:cNvSpPr/>
          <p:nvPr/>
        </p:nvSpPr>
        <p:spPr>
          <a:xfrm>
            <a:off x="6217920" y="3584448"/>
            <a:ext cx="2560320" cy="82296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8 features are a proof-of-concept subset. Production adds device fingerprinting, network characteristics, IdP signals.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548640"/>
            <a:ext cx="8229600" cy="82296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97% Recall. Zero Labeled Training Data.</a:t>
            </a:r>
            <a:endParaRPr lang="en-US" sz="3600" dirty="0"/>
          </a:p>
        </p:txBody>
      </p:sp>
      <p:sp>
        <p:nvSpPr>
          <p:cNvPr id="3" name="Text 1"/>
          <p:cNvSpPr/>
          <p:nvPr/>
        </p:nvSpPr>
        <p:spPr>
          <a:xfrm>
            <a:off x="457200" y="1417320"/>
            <a:ext cx="8229600" cy="457200"/>
          </a:xfrm>
          <a:prstGeom prst="rect">
            <a:avLst/>
          </a:prstGeom>
          <a:noFill/>
          <a:ln/>
        </p:spPr>
        <p:txBody>
          <a:bodyPr wrap="square" rtlCol="0" anchor="ctr"/>
          <a:lstStyle/>
          <a:p>
            <a:pPr algn="ctr" indent="0" marL="0">
              <a:buNone/>
            </a:pPr>
            <a:r>
              <a:rPr lang="en-US" sz="1800" i="1" dirty="0">
                <a:solidFill>
                  <a:srgbClr val="CADCFC"/>
                </a:solidFill>
                <a:latin typeface="Arial" pitchFamily="34" charset="0"/>
                <a:ea typeface="Arial" pitchFamily="34" charset="-122"/>
                <a:cs typeface="Arial" pitchFamily="34" charset="-120"/>
              </a:rPr>
              <a:t>Multi-signal behavioral anomaly detection across T1078 and T1041.</a:t>
            </a:r>
            <a:endParaRPr lang="en-US" sz="1800" dirty="0"/>
          </a:p>
        </p:txBody>
      </p:sp>
      <p:sp>
        <p:nvSpPr>
          <p:cNvPr id="4" name="Shape 2"/>
          <p:cNvSpPr/>
          <p:nvPr/>
        </p:nvSpPr>
        <p:spPr>
          <a:xfrm>
            <a:off x="0" y="2103120"/>
            <a:ext cx="9144000" cy="1188720"/>
          </a:xfrm>
          <a:prstGeom prst="rect">
            <a:avLst/>
          </a:prstGeom>
          <a:solidFill>
            <a:srgbClr val="1E3A5F"/>
          </a:solidFill>
          <a:ln w="12700">
            <a:solidFill>
              <a:srgbClr val="1E3A5F"/>
            </a:solidFill>
            <a:prstDash val="solid"/>
          </a:ln>
        </p:spPr>
      </p:sp>
      <p:sp>
        <p:nvSpPr>
          <p:cNvPr id="5" name="Text 3"/>
          <p:cNvSpPr/>
          <p:nvPr/>
        </p:nvSpPr>
        <p:spPr>
          <a:xfrm>
            <a:off x="457200" y="2148840"/>
            <a:ext cx="8229600" cy="1005840"/>
          </a:xfrm>
          <a:prstGeom prst="rect">
            <a:avLst/>
          </a:prstGeom>
          <a:noFill/>
          <a:ln/>
        </p:spPr>
        <p:txBody>
          <a:bodyPr wrap="square" rtlCol="0" anchor="ctr"/>
          <a:lstStyle/>
          <a:p>
            <a:pPr algn="ctr" indent="0" marL="0">
              <a:buNone/>
            </a:pPr>
            <a:r>
              <a:rPr lang="en-US" sz="1300" b="1" dirty="0">
                <a:solidFill>
                  <a:srgbClr val="CADCFC"/>
                </a:solidFill>
                <a:latin typeface="Arial" pitchFamily="34" charset="0"/>
                <a:ea typeface="Arial" pitchFamily="34" charset="-122"/>
                <a:cs typeface="Arial" pitchFamily="34" charset="-120"/>
              </a:rPr>
              <a:t>Benjamin Brady</a:t>
            </a:r>
            <a:endParaRPr lang="en-US" sz="1300" dirty="0"/>
          </a:p>
          <a:p>
            <a:pPr algn="ctr" indent="0" marL="0">
              <a:buNone/>
            </a:pPr>
            <a:r>
              <a:rPr lang="en-US" sz="1300" dirty="0">
                <a:solidFill>
                  <a:srgbClr val="CADCFC"/>
                </a:solidFill>
                <a:latin typeface="Arial" pitchFamily="34" charset="0"/>
                <a:ea typeface="Arial" pitchFamily="34" charset="-122"/>
                <a:cs typeface="Arial" pitchFamily="34" charset="-120"/>
              </a:rPr>
              <a:t>github.com/BenBrady1/Behavioral_Anomaly_detection</a:t>
            </a:r>
            <a:endParaRPr lang="en-US" sz="1300" dirty="0"/>
          </a:p>
          <a:p>
            <a:pPr algn="ctr" indent="0" marL="0">
              <a:buNone/>
            </a:pPr>
            <a:r>
              <a:rPr lang="en-US" sz="1300" dirty="0">
                <a:solidFill>
                  <a:srgbClr val="CADCFC"/>
                </a:solidFill>
                <a:latin typeface="Arial" pitchFamily="34" charset="0"/>
                <a:ea typeface="Arial" pitchFamily="34" charset="-122"/>
                <a:cs typeface="Arial" pitchFamily="34" charset="-120"/>
              </a:rPr>
              <a:t>Ben.Brady1989@gmail.com</a:t>
            </a:r>
            <a:endParaRPr lang="en-US" sz="1300" dirty="0"/>
          </a:p>
        </p:txBody>
      </p:sp>
      <p:sp>
        <p:nvSpPr>
          <p:cNvPr id="6" name="Text 4"/>
          <p:cNvSpPr/>
          <p:nvPr/>
        </p:nvSpPr>
        <p:spPr>
          <a:xfrm>
            <a:off x="457200" y="3474720"/>
            <a:ext cx="8229600" cy="365760"/>
          </a:xfrm>
          <a:prstGeom prst="rect">
            <a:avLst/>
          </a:prstGeom>
          <a:noFill/>
          <a:ln/>
        </p:spPr>
        <p:txBody>
          <a:bodyPr wrap="square" rtlCol="0" anchor="ctr"/>
          <a:lstStyle/>
          <a:p>
            <a:pPr algn="ctr" indent="0" marL="0">
              <a:buNone/>
            </a:pPr>
            <a:r>
              <a:rPr lang="en-US" sz="900" b="1" i="1" dirty="0">
                <a:solidFill>
                  <a:srgbClr val="94A3B8"/>
                </a:solidFill>
                <a:latin typeface="Arial" pitchFamily="34" charset="0"/>
                <a:ea typeface="Arial" pitchFamily="34" charset="-122"/>
                <a:cs typeface="Arial" pitchFamily="34" charset="-120"/>
              </a:rPr>
              <a:t>References: </a:t>
            </a:r>
            <a:pPr algn="ctr" indent="0" marL="0">
              <a:buNone/>
            </a:pPr>
            <a:r>
              <a:rPr lang="en-US" sz="900" i="1" dirty="0">
                <a:solidFill>
                  <a:srgbClr val="94A3B8"/>
                </a:solidFill>
                <a:latin typeface="Arial" pitchFamily="34" charset="0"/>
                <a:ea typeface="Arial" pitchFamily="34" charset="-122"/>
                <a:cs typeface="Arial" pitchFamily="34" charset="-120"/>
              </a:rPr>
              <a:t>Liu et al. (2008) IEEE · Schölkopf et al. (1999) NIPS · MITRE ATT&amp;CK T1078/T1041 · NIST SP 800-207 · Chandola et al. (2009) ACM</a:t>
            </a:r>
            <a:endParaRPr lang="en-US" sz="900" dirty="0"/>
          </a:p>
        </p:txBody>
      </p:sp>
      <p:sp>
        <p:nvSpPr>
          <p:cNvPr id="7" name="Text 5"/>
          <p:cNvSpPr/>
          <p:nvPr/>
        </p:nvSpPr>
        <p:spPr>
          <a:xfrm>
            <a:off x="457200" y="4480560"/>
            <a:ext cx="8229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Python · scikit-learn · pandas · matplotlib · seaborn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Anomaly Detection — Identity Threat Detection</dc:title>
  <dc:subject>PptxGenJS Presentation</dc:subject>
  <dc:creator>Benjamin Brady</dc:creator>
  <cp:lastModifiedBy>Benjamin Brady</cp:lastModifiedBy>
  <cp:revision>1</cp:revision>
  <dcterms:created xsi:type="dcterms:W3CDTF">2026-06-27T16:23:58Z</dcterms:created>
  <dcterms:modified xsi:type="dcterms:W3CDTF">2026-06-27T16:23:58Z</dcterms:modified>
</cp:coreProperties>
</file>